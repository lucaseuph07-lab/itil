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notesMasterIdLst>
    <p:notesMasterId r:id="rId4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notesMaster" Target="notesMasters/notesMaster1.xml"/><Relationship Id="rId47" Type="http://schemas.openxmlformats.org/officeDocument/2006/relationships/presProps" Target="presProps.xml"/><Relationship Id="rId48" Type="http://schemas.openxmlformats.org/officeDocument/2006/relationships/viewProps" Target="viewProps.xml"/><Relationship Id="rId49" Type="http://schemas.openxmlformats.org/officeDocument/2006/relationships/theme" Target="theme/theme1.xml"/><Relationship Id="rId5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344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ITIL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691640"/>
            <a:ext cx="8686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ITIL</a:t>
            </a:r>
            <a:endParaRPr lang="en-US" sz="4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Gérer les incidents et les problèmes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48640" y="3703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Cadre de bonnes pratiques pour la gestion des services IT — 35 heures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0561320" y="580644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1E2A44"/>
          </a:solidFill>
          <a:ln/>
        </p:spPr>
      </p:sp>
      <p:sp>
        <p:nvSpPr>
          <p:cNvPr id="6" name="Shape 4"/>
          <p:cNvSpPr/>
          <p:nvPr/>
        </p:nvSpPr>
        <p:spPr>
          <a:xfrm>
            <a:off x="11384280" y="5623560"/>
            <a:ext cx="457200" cy="457200"/>
          </a:xfrm>
          <a:prstGeom prst="ellipse">
            <a:avLst/>
          </a:prstGeom>
          <a:solidFill>
            <a:srgbClr val="D97F35"/>
          </a:solidFill>
          <a:ln/>
        </p:spPr>
      </p:sp>
      <p:sp>
        <p:nvSpPr>
          <p:cNvPr id="7" name="Shape 5"/>
          <p:cNvSpPr/>
          <p:nvPr/>
        </p:nvSpPr>
        <p:spPr>
          <a:xfrm>
            <a:off x="11109960" y="6263640"/>
            <a:ext cx="320040" cy="320040"/>
          </a:xfrm>
          <a:prstGeom prst="ellipse">
            <a:avLst/>
          </a:prstGeom>
          <a:solidFill>
            <a:srgbClr val="5B7B94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6263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conçu par Yaël Grosjean · yael.grosjean@protonmail.com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ITIL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9659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7F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34440" y="1993392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ITIL et historique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8803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7F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34440" y="2907792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services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7947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7F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234440" y="3822192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Stratégie et conception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47091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7F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234440" y="4736592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09360" y="19659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7F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995160" y="1993392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09360" y="28803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7F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995160" y="2907792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Savoir, savoir-faire, savoir-être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09360" y="37947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7F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995160" y="3822192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Assistance utilisateur sous GLPI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09360" y="47091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7F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995160" y="4736592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Amélioration continue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64739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ITIL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10642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GLOSSAIRE DES SIGLES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Tous les sigles du module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ITIL 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cadre de bonnes pratiques pour gérer les services IT.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2295144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SVS 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de valeur des services (architecture ITIL, stable depuis ITIL 4).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280720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de niveau de service envers le client.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3319272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 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de niveau de service entre équipes internes.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3831336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 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 avec un fournisseur externe, support d'un SLA.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434340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RFC 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 de changement soumise pour évaluation.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4855464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 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comité qui autorise les changements à risque.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536752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CMDB 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des composants IT (CI) et de leurs relations.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5879592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composant IT recensé dans la CMDB.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309360" y="178308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RCA 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 de recherche de la cause racine d'un problème.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309360" y="2295144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KEDB 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des erreurs connues et de leurs contournements.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309360" y="280720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SPOC 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de contact unique entre l'utilisateur et l'IT.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309360" y="3319272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N1 / N2 / N3 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niveaux de support, du généraliste au spécialiste.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309360" y="3831336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PDCA 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boucle Plan-Do-Check-Act d'amélioration continue.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309360" y="434340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CSI 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amélioration continue des services, en continu.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309360" y="4855464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GLPI 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 open source de gestion de tickets et de parc.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309360" y="536752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PSLM 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de vie du produit et du service, 8 activités (ITIL 5).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64739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Glossaire des sigles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ITIL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10642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MOTS-CLÉS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Vocabulaire du module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124712" cy="420624"/>
          </a:xfrm>
          <a:prstGeom prst="roundRect">
            <a:avLst>
              <a:gd name="adj" fmla="val 50000"/>
            </a:avLst>
          </a:prstGeom>
          <a:solidFill>
            <a:srgbClr val="F0EEE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011680"/>
            <a:ext cx="11247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1856232" y="2011680"/>
            <a:ext cx="1124712" cy="420624"/>
          </a:xfrm>
          <a:prstGeom prst="roundRect">
            <a:avLst>
              <a:gd name="adj" fmla="val 50000"/>
            </a:avLst>
          </a:prstGeom>
          <a:solidFill>
            <a:srgbClr val="F0EEE6"/>
          </a:solidFill>
          <a:ln/>
        </p:spPr>
      </p:sp>
      <p:sp>
        <p:nvSpPr>
          <p:cNvPr id="7" name="Text 5"/>
          <p:cNvSpPr/>
          <p:nvPr/>
        </p:nvSpPr>
        <p:spPr>
          <a:xfrm>
            <a:off x="1856232" y="2011680"/>
            <a:ext cx="11247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163824" y="2011680"/>
            <a:ext cx="1627632" cy="420624"/>
          </a:xfrm>
          <a:prstGeom prst="roundRect">
            <a:avLst>
              <a:gd name="adj" fmla="val 50000"/>
            </a:avLst>
          </a:prstGeom>
          <a:solidFill>
            <a:srgbClr val="F0EEE6"/>
          </a:solidFill>
          <a:ln/>
        </p:spPr>
      </p:sp>
      <p:sp>
        <p:nvSpPr>
          <p:cNvPr id="9" name="Text 7"/>
          <p:cNvSpPr/>
          <p:nvPr/>
        </p:nvSpPr>
        <p:spPr>
          <a:xfrm>
            <a:off x="3163824" y="2011680"/>
            <a:ext cx="1627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 connue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974336" y="2011680"/>
            <a:ext cx="923544" cy="420624"/>
          </a:xfrm>
          <a:prstGeom prst="roundRect">
            <a:avLst>
              <a:gd name="adj" fmla="val 50000"/>
            </a:avLst>
          </a:prstGeom>
          <a:solidFill>
            <a:srgbClr val="F0EEE6"/>
          </a:solidFill>
          <a:ln/>
        </p:spPr>
      </p:sp>
      <p:sp>
        <p:nvSpPr>
          <p:cNvPr id="11" name="Text 9"/>
          <p:cNvSpPr/>
          <p:nvPr/>
        </p:nvSpPr>
        <p:spPr>
          <a:xfrm>
            <a:off x="4974336" y="2011680"/>
            <a:ext cx="9235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080760" y="2011680"/>
            <a:ext cx="1124712" cy="420624"/>
          </a:xfrm>
          <a:prstGeom prst="roundRect">
            <a:avLst>
              <a:gd name="adj" fmla="val 50000"/>
            </a:avLst>
          </a:prstGeom>
          <a:solidFill>
            <a:srgbClr val="F0EEE6"/>
          </a:solidFill>
          <a:ln/>
        </p:spPr>
      </p:sp>
      <p:sp>
        <p:nvSpPr>
          <p:cNvPr id="13" name="Text 11"/>
          <p:cNvSpPr/>
          <p:nvPr/>
        </p:nvSpPr>
        <p:spPr>
          <a:xfrm>
            <a:off x="6080760" y="2011680"/>
            <a:ext cx="11247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Escalade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388352" y="2011680"/>
            <a:ext cx="2231136" cy="420624"/>
          </a:xfrm>
          <a:prstGeom prst="roundRect">
            <a:avLst>
              <a:gd name="adj" fmla="val 50000"/>
            </a:avLst>
          </a:prstGeom>
          <a:solidFill>
            <a:srgbClr val="F0EEE6"/>
          </a:solidFill>
          <a:ln/>
        </p:spPr>
      </p:sp>
      <p:sp>
        <p:nvSpPr>
          <p:cNvPr id="15" name="Text 13"/>
          <p:cNvSpPr/>
          <p:nvPr/>
        </p:nvSpPr>
        <p:spPr>
          <a:xfrm>
            <a:off x="7388352" y="2011680"/>
            <a:ext cx="22311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Changement standard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802368" y="2011680"/>
            <a:ext cx="1527048" cy="420624"/>
          </a:xfrm>
          <a:prstGeom prst="roundRect">
            <a:avLst>
              <a:gd name="adj" fmla="val 50000"/>
            </a:avLst>
          </a:prstGeom>
          <a:solidFill>
            <a:srgbClr val="F0EEE6"/>
          </a:solidFill>
          <a:ln/>
        </p:spPr>
      </p:sp>
      <p:sp>
        <p:nvSpPr>
          <p:cNvPr id="17" name="Text 15"/>
          <p:cNvSpPr/>
          <p:nvPr/>
        </p:nvSpPr>
        <p:spPr>
          <a:xfrm>
            <a:off x="9802368" y="2011680"/>
            <a:ext cx="1527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Desk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2633472"/>
            <a:ext cx="1627632" cy="420624"/>
          </a:xfrm>
          <a:prstGeom prst="roundRect">
            <a:avLst>
              <a:gd name="adj" fmla="val 50000"/>
            </a:avLst>
          </a:prstGeom>
          <a:solidFill>
            <a:srgbClr val="F0EEE6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2633472"/>
            <a:ext cx="1627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Contournement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359152" y="2633472"/>
            <a:ext cx="2432304" cy="420624"/>
          </a:xfrm>
          <a:prstGeom prst="roundRect">
            <a:avLst>
              <a:gd name="adj" fmla="val 50000"/>
            </a:avLst>
          </a:prstGeom>
          <a:solidFill>
            <a:srgbClr val="F0EEE6"/>
          </a:solidFill>
          <a:ln/>
        </p:spPr>
      </p:sp>
      <p:sp>
        <p:nvSpPr>
          <p:cNvPr id="21" name="Text 19"/>
          <p:cNvSpPr/>
          <p:nvPr/>
        </p:nvSpPr>
        <p:spPr>
          <a:xfrm>
            <a:off x="2359152" y="2633472"/>
            <a:ext cx="24323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connaissances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48640" y="64739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Mots-clés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ITIL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10642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669694" cy="384048"/>
          </a:xfrm>
          <a:prstGeom prst="roundRect">
            <a:avLst>
              <a:gd name="adj" fmla="val 21429"/>
            </a:avLst>
          </a:prstGeom>
          <a:solidFill>
            <a:srgbClr val="D97F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66969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· MODE D'EMPLOI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0" y="5029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NORDLOG · PME LOGISTIQUE · 60 SALARIÉS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6537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seul mécanisme pour tous les TP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6537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fiche CLIENT, une fiche TECHNICIEN, deux binômes voisins qui s'associent. C'est le même principe du premier au dernier TP.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423160"/>
            <a:ext cx="6537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fil rouge léger : le ticket NordLog revient à l'ouverture, à la priorisation, à la résolution et au post-mortem — toujours le même binôme technicien</a:t>
            </a:r>
            <a:endParaRPr lang="en-US" sz="1250" dirty="0"/>
          </a:p>
          <a:p>
            <a:pPr marL="342900" indent="-3429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mini-TP entre les deux, sur des cas différents à chaque fois, pour que le geste s'entraîne sur plusieurs situations</a:t>
            </a:r>
            <a:endParaRPr lang="en-US" sz="1250" dirty="0"/>
          </a:p>
          <a:p>
            <a:pPr marL="342900" indent="-3429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binôme voisin joue le client à partir de sa fiche pendant que vous menez l'échange — puis on échange les rôles</a:t>
            </a:r>
            <a:endParaRPr lang="en-US" sz="1250" dirty="0"/>
          </a:p>
          <a:p>
            <a:pPr marL="342900" indent="-3429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seule exception dans tout le module (section 04) : un binôme joue devant la salle, les autres observent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269480" y="777240"/>
            <a:ext cx="4370832" cy="5257800"/>
          </a:xfrm>
          <a:prstGeom prst="roundRect">
            <a:avLst>
              <a:gd name="adj" fmla="val 1255"/>
            </a:avLst>
          </a:prstGeom>
          <a:solidFill>
            <a:srgbClr val="1E2A44"/>
          </a:solidFill>
          <a:ln/>
        </p:spPr>
      </p:sp>
      <p:sp>
        <p:nvSpPr>
          <p:cNvPr id="9" name="Text 7"/>
          <p:cNvSpPr/>
          <p:nvPr/>
        </p:nvSpPr>
        <p:spPr>
          <a:xfrm>
            <a:off x="7543800" y="10058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97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CRITÈRES DE RÉUSSITE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543800" y="1417320"/>
            <a:ext cx="38404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D7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Chaque hypothèse est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D7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testée avant d'agir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D7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Tout est tracé dans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D7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GLPI en temps réel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D7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Personne ne clôture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D7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sans validation client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64739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— mode d'emploi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ITIL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10642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paysage des outils de gestion d'incidents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16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Utiliser un outil de gestion d'incidents est un savoir-faire attendu du référentiel.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module s'appuie sur GLPI : gratuit sans limite d'utilisateurs, aligné sur les processus ITIL, standard dans les PME et le secteur public français.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11091672" cy="3063240"/>
          </a:xfrm>
          <a:prstGeom prst="roundRect">
            <a:avLst>
              <a:gd name="adj" fmla="val 1791"/>
            </a:avLst>
          </a:prstGeom>
          <a:solidFill>
            <a:srgbClr val="F0EEE6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880360"/>
            <a:ext cx="5042916" cy="25146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5B7B9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3044952"/>
            <a:ext cx="45857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 COMMERCIALES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97280" y="3383280"/>
            <a:ext cx="458571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ServiceNow</a:t>
            </a:r>
            <a:pPr indent="0" marL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grandes entreprises, couverture ITIL complète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Jira Service Management</a:t>
            </a:r>
            <a:pPr indent="0" marL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équipes DevOps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Freshservice</a:t>
            </a:r>
            <a:pPr indent="0" marL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PME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Zendesk, ManageEngine</a:t>
            </a:r>
            <a:pPr indent="0" marL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ticketing et SLA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77356" y="2880360"/>
            <a:ext cx="5042916" cy="25146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9050">
            <a:solidFill>
              <a:srgbClr val="D97F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05956" y="3044952"/>
            <a:ext cx="45857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D97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 LIBRES ET GRATUITES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505956" y="3383280"/>
            <a:ext cx="458571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D97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GLPI</a:t>
            </a:r>
            <a:pPr indent="0" marL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D97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retenu pour ce module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iTop</a:t>
            </a:r>
            <a:pPr indent="0" marL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alternative, CMDB plus poussée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osTicket</a:t>
            </a:r>
            <a:pPr indent="0" marL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ticketing simple, sans logique ITIL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577900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D97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RETENIR  </a:t>
            </a:r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GLPI couvre incidents, problèmes, changements et CMDB — sans coût de licence.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64739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— installation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ITIL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10642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6537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GLPI (Gestion Libre de Parc Informatique)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65379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 open source de gestion de services IT et de parc informatique.</a:t>
            </a:r>
            <a:endParaRPr lang="en-US" sz="13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clés : gestion des tickets (incidents/demandes), base de connaissances, CMDB, SLA.</a:t>
            </a:r>
            <a:endParaRPr lang="en-US" sz="13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ticket est l'unité de traçabilité : tout ce qui a été fait doit y être consigné.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269480" y="777240"/>
            <a:ext cx="4370832" cy="5257800"/>
          </a:xfrm>
          <a:prstGeom prst="roundRect">
            <a:avLst>
              <a:gd name="adj" fmla="val 1255"/>
            </a:avLst>
          </a:prstGeom>
          <a:solidFill>
            <a:srgbClr val="F0EEE6"/>
          </a:solidFill>
          <a:ln/>
        </p:spPr>
      </p:sp>
      <p:sp>
        <p:nvSpPr>
          <p:cNvPr id="6" name="Shape 4"/>
          <p:cNvSpPr/>
          <p:nvPr/>
        </p:nvSpPr>
        <p:spPr>
          <a:xfrm>
            <a:off x="7543800" y="1051560"/>
            <a:ext cx="457200" cy="457200"/>
          </a:xfrm>
          <a:prstGeom prst="ellipse">
            <a:avLst/>
          </a:prstGeom>
          <a:solidFill>
            <a:srgbClr val="1E2A44"/>
          </a:solidFill>
          <a:ln/>
        </p:spPr>
      </p:sp>
      <p:sp>
        <p:nvSpPr>
          <p:cNvPr id="7" name="Text 5"/>
          <p:cNvSpPr/>
          <p:nvPr/>
        </p:nvSpPr>
        <p:spPr>
          <a:xfrm>
            <a:off x="7543800" y="1051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138160" y="10515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97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MÉTAPHORE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543800" y="164592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dossier patient partagé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543800" y="2423160"/>
            <a:ext cx="38404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intervenant lit et écrit dans le même dossier ; personne ne reprend l'historique à zéro à chaque passage.  </a:t>
            </a:r>
            <a:pPr indent="0" marL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outil bien configuré ne remplace pas un bon diagnostic : GLPI trace, il ne résout rien tout seul.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" y="64739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— installation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ITIL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10642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294790" cy="384048"/>
          </a:xfrm>
          <a:prstGeom prst="roundRect">
            <a:avLst>
              <a:gd name="adj" fmla="val 21429"/>
            </a:avLst>
          </a:prstGeom>
          <a:solidFill>
            <a:srgbClr val="D97F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2947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PLACE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0" y="5029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6537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Installer GLPI — la stack Docker Compose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6537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services suffisent : GLPI et sa base de données. Pas d'installation manuelle de PHP ni de MySQL sur votre machine.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423160"/>
            <a:ext cx="6537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glpi/glpi:latest est l'image officielle du projet GLPI, publiée sur Docker Hub</a:t>
            </a:r>
            <a:endParaRPr lang="en-US" sz="1250" dirty="0"/>
          </a:p>
          <a:p>
            <a:pPr marL="342900" indent="-3429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service db (MySQL) fournit la base de données, créée automatiquement au premier démarrage</a:t>
            </a:r>
            <a:endParaRPr lang="en-US" sz="1250" dirty="0"/>
          </a:p>
          <a:p>
            <a:pPr marL="342900" indent="-3429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volumes glpi_data et db_data conservent vos données même si vous recréez les conteneurs</a:t>
            </a:r>
            <a:endParaRPr lang="en-US" sz="1250" dirty="0"/>
          </a:p>
          <a:p>
            <a:pPr marL="342900" indent="-3429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un dossier de travail, y coller ce fichier sous le nom docker-compose.yml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269480" y="777240"/>
            <a:ext cx="4370832" cy="5257800"/>
          </a:xfrm>
          <a:prstGeom prst="roundRect">
            <a:avLst>
              <a:gd name="adj" fmla="val 1255"/>
            </a:avLst>
          </a:prstGeom>
          <a:solidFill>
            <a:srgbClr val="1E2A44"/>
          </a:solidFill>
          <a:ln/>
        </p:spPr>
      </p:sp>
      <p:sp>
        <p:nvSpPr>
          <p:cNvPr id="9" name="Text 7"/>
          <p:cNvSpPr/>
          <p:nvPr/>
        </p:nvSpPr>
        <p:spPr>
          <a:xfrm>
            <a:off x="7543800" y="10058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97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DOCKER-COMPOSE.YML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543800" y="1417320"/>
            <a:ext cx="38404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D7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services: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D7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glpi: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D7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image: "glpi/glpi:latest"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D7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restart: "unless-stopped"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D7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volumes: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D7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glpi_data:/var/glpi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D7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env_file: .env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D7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depends_on: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D7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db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D7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ports: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D7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"8080:80"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D7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db: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D7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image: "mysql"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D7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restart: "unless-stopped"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D7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volumes: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D7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db_data:/var/lib/mysql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D7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environment: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D7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MYSQL_RANDOM_ROOT_PASSWORD: "yes"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D7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MYSQL_DATABASE: ${GLPI_DB_NAME}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D7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MYSQL_USER: ${GLPI_DB_USER}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D7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MYSQL_PASSWORD: ${GLPI_DB_PASSWORD}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D7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volumes: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D7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glpi_data: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D7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db_data: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48640" y="64739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— installation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ITIL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10642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294790" cy="384048"/>
          </a:xfrm>
          <a:prstGeom prst="roundRect">
            <a:avLst>
              <a:gd name="adj" fmla="val 21429"/>
            </a:avLst>
          </a:prstGeom>
          <a:solidFill>
            <a:srgbClr val="D97F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2947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PLACE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0" y="5029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6537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Lancer GLPI et se connecter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6537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fichier .env contient les identifiants de connexion à la base — GLPI s'installe seul en les lisant.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423160"/>
            <a:ext cx="6537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un fichier .env à côté du docker-compose.yml, avec le contenu ci-contre</a:t>
            </a:r>
            <a:endParaRPr lang="en-US" sz="1250" dirty="0"/>
          </a:p>
          <a:p>
            <a:pPr marL="342900" indent="-3429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Lancer docker compose up -d, puis patienter quelques secondes le temps que la base démarre</a:t>
            </a:r>
            <a:endParaRPr lang="en-US" sz="1250" dirty="0"/>
          </a:p>
          <a:p>
            <a:pPr marL="342900" indent="-3429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GLPI installe automatiquement son schéma de base au premier accès — aucun assistant à remplir</a:t>
            </a:r>
            <a:endParaRPr lang="en-US" sz="1250" dirty="0"/>
          </a:p>
          <a:p>
            <a:pPr marL="342900" indent="-3429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connecter avec le compte Super-Admin par défaut, puis changer immédiatement son mot de passe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269480" y="777240"/>
            <a:ext cx="4370832" cy="5257800"/>
          </a:xfrm>
          <a:prstGeom prst="roundRect">
            <a:avLst>
              <a:gd name="adj" fmla="val 1255"/>
            </a:avLst>
          </a:prstGeom>
          <a:solidFill>
            <a:srgbClr val="1E2A44"/>
          </a:solidFill>
          <a:ln/>
        </p:spPr>
      </p:sp>
      <p:sp>
        <p:nvSpPr>
          <p:cNvPr id="9" name="Text 7"/>
          <p:cNvSpPr/>
          <p:nvPr/>
        </p:nvSpPr>
        <p:spPr>
          <a:xfrm>
            <a:off x="7543800" y="10058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97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543800" y="1417320"/>
            <a:ext cx="38404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D7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GLPI_DB_HOST=db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D7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GLPI_DB_PORT=3306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D7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GLPI_DB_NAME=glpi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D7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GLPI_DB_USER=glpi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D7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GLPI_DB_PASSWORD=glpi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543800" y="3246120"/>
            <a:ext cx="3840480" cy="0"/>
          </a:xfrm>
          <a:prstGeom prst="line">
            <a:avLst/>
          </a:prstGeom>
          <a:noFill/>
          <a:ln w="9525">
            <a:solidFill>
              <a:srgbClr val="5B7B9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43800" y="33832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D97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LANCER ET SE CONNECTER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543800" y="3840480"/>
            <a:ext cx="3840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D7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docker compose up -d</a:t>
            </a:r>
            <a:endParaRPr lang="en-US" sz="1050" dirty="0"/>
          </a:p>
          <a:p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D7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puis http://localhost:8080</a:t>
            </a:r>
            <a:endParaRPr lang="en-US" sz="1050" dirty="0"/>
          </a:p>
          <a:p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D7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glpi / glpi (Super-Admin)</a:t>
            </a:r>
            <a:endParaRPr lang="en-US" sz="1050" dirty="0"/>
          </a:p>
          <a:p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D7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changer le mot de passe aussitôt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48640" y="64739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— installation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ITIL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10642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294790" cy="384048"/>
          </a:xfrm>
          <a:prstGeom prst="roundRect">
            <a:avLst>
              <a:gd name="adj" fmla="val 21429"/>
            </a:avLst>
          </a:prstGeom>
          <a:solidFill>
            <a:srgbClr val="D97F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2947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PLACE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0" y="5029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6537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Travailler en binôme, 100 % en local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6537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poste a sa propre instance GLPI. Aucun partage réseau entre machines — le binôme fonctionne quand même.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423160"/>
            <a:ext cx="6537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Chacun installe et lance sa propre instance GLPI (voir les deux slides précédentes) — aucune configuration réseau à faire</a:t>
            </a:r>
            <a:endParaRPr lang="en-US" sz="1250" dirty="0"/>
          </a:p>
          <a:p>
            <a:pPr marL="342900" indent="-3429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chaque exercice, un seul membre du binôme saisit dans GLPI (le rédacteur du moment) ; l'autre joue son rôle sans avoir besoin d'y accéder</a:t>
            </a:r>
            <a:endParaRPr lang="en-US" sz="1250" dirty="0"/>
          </a:p>
          <a:p>
            <a:pPr marL="342900" indent="-3429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rotation des rôles fait qu'au fil du module, chacun utilise sa propre instance à son tour</a:t>
            </a:r>
            <a:endParaRPr lang="en-US" sz="1250" dirty="0"/>
          </a:p>
          <a:p>
            <a:pPr marL="342900" indent="-3429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instance locale garde son propre historique de tickets pendant toute la durée du module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269480" y="777240"/>
            <a:ext cx="4370832" cy="5257800"/>
          </a:xfrm>
          <a:prstGeom prst="roundRect">
            <a:avLst>
              <a:gd name="adj" fmla="val 1255"/>
            </a:avLst>
          </a:prstGeom>
          <a:solidFill>
            <a:srgbClr val="1E2A44"/>
          </a:solidFill>
          <a:ln/>
        </p:spPr>
      </p:sp>
      <p:sp>
        <p:nvSpPr>
          <p:cNvPr id="9" name="Text 7"/>
          <p:cNvSpPr/>
          <p:nvPr/>
        </p:nvSpPr>
        <p:spPr>
          <a:xfrm>
            <a:off x="7543800" y="10058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97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NE DÉPEND D'AUCUN RÉSEAU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543800" y="1417320"/>
            <a:ext cx="38404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D7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http://localhost:8080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D7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fonctionne toujours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D7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 de pare-feu à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D7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configurer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D7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 de Wi-Fi de salle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D7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à dépanner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64739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— installation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ITIL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10642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55080" y="182880"/>
            <a:ext cx="5303520" cy="548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b="1" dirty="0">
                <a:solidFill>
                  <a:srgbClr val="F0EE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548640" y="2743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10896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Présentation ITIL et historique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429768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D'où vient le référentiel, et à quoi il sert vraiment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Présentation ITIL et historique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ITIL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642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6537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Qu'est-ce qu'ITIL 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65379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ITIL (Information Technology Infrastructure Library — bibliothèque pour l'infrastructure des technologies de l'information) : un cadre de bonnes pratiques, pas une norme obligatoire, pas un logiciel.</a:t>
            </a:r>
            <a:endParaRPr lang="en-US" sz="13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Né au Royaume-Uni dans les années 1980 (CCTA), aujourd'hui piloté par PeopleCert.</a:t>
            </a:r>
            <a:endParaRPr lang="en-US" sz="13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actuelle : ITIL 5 (février 2026) — une évolution d'ITIL 4 (2019), pas un remplacement : les 7 principes, les 4 dimensions et le système de valeur des services (SVS) restent les mêmes architectures.</a:t>
            </a:r>
            <a:endParaRPr lang="en-US" sz="13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: aligner les services IT sur le besoin métier, pas empiler des procédures.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269480" y="777240"/>
            <a:ext cx="4370832" cy="5257800"/>
          </a:xfrm>
          <a:prstGeom prst="roundRect">
            <a:avLst>
              <a:gd name="adj" fmla="val 1255"/>
            </a:avLst>
          </a:prstGeom>
          <a:solidFill>
            <a:srgbClr val="F0EEE6"/>
          </a:solidFill>
          <a:ln/>
        </p:spPr>
      </p:sp>
      <p:sp>
        <p:nvSpPr>
          <p:cNvPr id="6" name="Shape 4"/>
          <p:cNvSpPr/>
          <p:nvPr/>
        </p:nvSpPr>
        <p:spPr>
          <a:xfrm>
            <a:off x="7543800" y="1051560"/>
            <a:ext cx="457200" cy="457200"/>
          </a:xfrm>
          <a:prstGeom prst="ellipse">
            <a:avLst/>
          </a:prstGeom>
          <a:solidFill>
            <a:srgbClr val="1E2A44"/>
          </a:solidFill>
          <a:ln/>
        </p:spPr>
      </p:sp>
      <p:sp>
        <p:nvSpPr>
          <p:cNvPr id="7" name="Text 5"/>
          <p:cNvSpPr/>
          <p:nvPr/>
        </p:nvSpPr>
        <p:spPr>
          <a:xfrm>
            <a:off x="7543800" y="1051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138160" y="10515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97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MÉTAPHORE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543800" y="164592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code de la route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543800" y="2423160"/>
            <a:ext cx="38404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Connaître les règles ne fait pas conduire — mais sans elles, chacun invente sa priorité à chaque carrefour.  </a:t>
            </a:r>
            <a:pPr indent="0" marL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code de la route ne dit pas comment réparer le moteur : ITIL cadre l'organisation, pas la résolution technique.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" y="64739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Présentation ITIL et historique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ITIL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10642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4 dimensions du service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01468" cy="3383280"/>
          </a:xfrm>
          <a:prstGeom prst="roundRect">
            <a:avLst>
              <a:gd name="adj" fmla="val 2109"/>
            </a:avLst>
          </a:prstGeom>
          <a:solidFill>
            <a:srgbClr val="F0EEE6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2011680"/>
            <a:ext cx="365760" cy="365760"/>
          </a:xfrm>
          <a:prstGeom prst="ellipse">
            <a:avLst/>
          </a:prstGeom>
          <a:solidFill>
            <a:srgbClr val="D97F3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13232" y="2560320"/>
            <a:ext cx="22722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D97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ORGANISATIONS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D97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PERSONNES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13232" y="3246120"/>
            <a:ext cx="227228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Rôles, compétences, culture d'équipe.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78708" y="1783080"/>
            <a:ext cx="2601468" cy="3383280"/>
          </a:xfrm>
          <a:prstGeom prst="roundRect">
            <a:avLst>
              <a:gd name="adj" fmla="val 2109"/>
            </a:avLst>
          </a:prstGeom>
          <a:solidFill>
            <a:srgbClr val="F0EEE6"/>
          </a:solidFill>
          <a:ln/>
        </p:spPr>
      </p:sp>
      <p:sp>
        <p:nvSpPr>
          <p:cNvPr id="10" name="Shape 8"/>
          <p:cNvSpPr/>
          <p:nvPr/>
        </p:nvSpPr>
        <p:spPr>
          <a:xfrm>
            <a:off x="3561588" y="2011680"/>
            <a:ext cx="365760" cy="365760"/>
          </a:xfrm>
          <a:prstGeom prst="ellipse">
            <a:avLst/>
          </a:prstGeom>
          <a:solidFill>
            <a:srgbClr val="D97F35"/>
          </a:solidFill>
          <a:ln/>
        </p:spPr>
      </p:sp>
      <p:sp>
        <p:nvSpPr>
          <p:cNvPr id="11" name="Text 9"/>
          <p:cNvSpPr/>
          <p:nvPr/>
        </p:nvSpPr>
        <p:spPr>
          <a:xfrm>
            <a:off x="3561588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43300" y="2560320"/>
            <a:ext cx="22722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D97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ET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D97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543300" y="3246120"/>
            <a:ext cx="227228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Outils, données, architecture — inclut désormais la gouvernance de l'IA.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08776" y="1783080"/>
            <a:ext cx="2601468" cy="3383280"/>
          </a:xfrm>
          <a:prstGeom prst="roundRect">
            <a:avLst>
              <a:gd name="adj" fmla="val 2109"/>
            </a:avLst>
          </a:prstGeom>
          <a:solidFill>
            <a:srgbClr val="F0EEE6"/>
          </a:solidFill>
          <a:ln/>
        </p:spPr>
      </p:sp>
      <p:sp>
        <p:nvSpPr>
          <p:cNvPr id="15" name="Shape 13"/>
          <p:cNvSpPr/>
          <p:nvPr/>
        </p:nvSpPr>
        <p:spPr>
          <a:xfrm>
            <a:off x="6391656" y="2011680"/>
            <a:ext cx="365760" cy="365760"/>
          </a:xfrm>
          <a:prstGeom prst="ellipse">
            <a:avLst/>
          </a:prstGeom>
          <a:solidFill>
            <a:srgbClr val="D97F35"/>
          </a:solidFill>
          <a:ln/>
        </p:spPr>
      </p:sp>
      <p:sp>
        <p:nvSpPr>
          <p:cNvPr id="16" name="Text 14"/>
          <p:cNvSpPr/>
          <p:nvPr/>
        </p:nvSpPr>
        <p:spPr>
          <a:xfrm>
            <a:off x="6391656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73368" y="2560320"/>
            <a:ext cx="22722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D97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PARTENAIRES ET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D97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FOURNISSEURS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373368" y="3246120"/>
            <a:ext cx="227228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Contrats et dépendances externes.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38844" y="1783080"/>
            <a:ext cx="2601468" cy="3383280"/>
          </a:xfrm>
          <a:prstGeom prst="roundRect">
            <a:avLst>
              <a:gd name="adj" fmla="val 2109"/>
            </a:avLst>
          </a:prstGeom>
          <a:solidFill>
            <a:srgbClr val="F0EEE6"/>
          </a:solidFill>
          <a:ln/>
        </p:spPr>
      </p:sp>
      <p:sp>
        <p:nvSpPr>
          <p:cNvPr id="20" name="Shape 18"/>
          <p:cNvSpPr/>
          <p:nvPr/>
        </p:nvSpPr>
        <p:spPr>
          <a:xfrm>
            <a:off x="9221724" y="2011680"/>
            <a:ext cx="365760" cy="365760"/>
          </a:xfrm>
          <a:prstGeom prst="ellipse">
            <a:avLst/>
          </a:prstGeom>
          <a:solidFill>
            <a:srgbClr val="D97F35"/>
          </a:solidFill>
          <a:ln/>
        </p:spPr>
      </p:sp>
      <p:sp>
        <p:nvSpPr>
          <p:cNvPr id="21" name="Text 19"/>
          <p:cNvSpPr/>
          <p:nvPr/>
        </p:nvSpPr>
        <p:spPr>
          <a:xfrm>
            <a:off x="9221724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203436" y="2560320"/>
            <a:ext cx="22722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D97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DE VALEUR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D97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PROCESSUS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203436" y="3246120"/>
            <a:ext cx="227228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le travail circule réellement.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64739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Présentation ITIL et historique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ITIL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10642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7 principes directeurs d'ITIL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3949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concentrer sur la valeur 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 action se justifie par la valeur qu'elle apporte au client.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2788920"/>
            <a:ext cx="53949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Commencer là où vous êtes 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pas tout reconstruire avant d'avoir vérifié ce qui marche déjà.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3794760"/>
            <a:ext cx="53949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Progresser itérativement, avec retours 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petits pas, mesurés, plutôt qu'un grand saut.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4800600"/>
            <a:ext cx="53949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Collaborer et favoriser la visibilité 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travail caché ne peut pas être amélioré.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309360" y="1783080"/>
            <a:ext cx="53949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Penser et travailler de façon globale 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changement local a des effets ailleurs dans le service.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309360" y="2788920"/>
            <a:ext cx="53949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Faire simple et pratique 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minimum d'étapes qui produit le résultat attendu.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309360" y="3794760"/>
            <a:ext cx="53949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Optimiser et automatiser 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automatiser une tâche mal conçue ne fait qu'accélérer le problème.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64739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Présentation ITIL et historique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ITIL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10642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969618" cy="384048"/>
          </a:xfrm>
          <a:prstGeom prst="roundRect">
            <a:avLst>
              <a:gd name="adj" fmla="val 21429"/>
            </a:avLst>
          </a:prstGeom>
          <a:solidFill>
            <a:srgbClr val="D97F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9696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FIL ROUGE · POINT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0" y="5029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GLPI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6537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Réceptionner l'appel et déclarer l'incident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6537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Allô ? Mon logiciel de facturation plante depuis ce matin, j'ai un message bizarre à l'écran... »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423160"/>
            <a:ext cx="6537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Poser les questions de base avant d'ouvrir le ticket (quoi, depuis quand, message exact)</a:t>
            </a:r>
            <a:endParaRPr lang="en-US" sz="1250" dirty="0"/>
          </a:p>
          <a:p>
            <a:pPr marL="342900" indent="-3429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Ouvrir le ticket : demandeur, catégorie, description factuelle des symptômes</a:t>
            </a:r>
            <a:endParaRPr lang="en-US" sz="1250" dirty="0"/>
          </a:p>
          <a:p>
            <a:pPr marL="342900" indent="-3429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Chercher dans la base de connaissances avant de conclure à un cas inédit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269480" y="777240"/>
            <a:ext cx="4370832" cy="5257800"/>
          </a:xfrm>
          <a:prstGeom prst="roundRect">
            <a:avLst>
              <a:gd name="adj" fmla="val 1255"/>
            </a:avLst>
          </a:prstGeom>
          <a:solidFill>
            <a:srgbClr val="1E2A44"/>
          </a:solidFill>
          <a:ln/>
        </p:spPr>
      </p:sp>
      <p:sp>
        <p:nvSpPr>
          <p:cNvPr id="9" name="Text 7"/>
          <p:cNvSpPr/>
          <p:nvPr/>
        </p:nvSpPr>
        <p:spPr>
          <a:xfrm>
            <a:off x="7543800" y="10058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97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REPÈRES GLPI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543800" y="1417320"/>
            <a:ext cx="38404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D7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: Incident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D7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Catégorie : Logiciel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D7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métier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D7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Statut : Nouveau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543800" y="3246120"/>
            <a:ext cx="3840480" cy="0"/>
          </a:xfrm>
          <a:prstGeom prst="line">
            <a:avLst/>
          </a:prstGeom>
          <a:noFill/>
          <a:ln w="9525">
            <a:solidFill>
              <a:srgbClr val="5B7B9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43800" y="33832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D97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FRÉQUENTS EN ENTREPRISE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543800" y="3840480"/>
            <a:ext cx="3840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D7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logiciel métier bloqué après une mise à jour</a:t>
            </a:r>
            <a:endParaRPr lang="en-US" sz="1050" dirty="0"/>
          </a:p>
          <a:p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D7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message « erreur de connexion à la base »</a:t>
            </a:r>
            <a:endParaRPr lang="en-US" sz="1050" dirty="0"/>
          </a:p>
          <a:p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D7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ERP inaccessible en début de journée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48640" y="64739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Présentation ITIL et historique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ITIL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10642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55080" y="182880"/>
            <a:ext cx="5303520" cy="548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b="1" dirty="0">
                <a:solidFill>
                  <a:srgbClr val="F0EE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548640" y="2743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10896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Gestion des services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429768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qu'on promet, et comment on le formalise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Gestion des services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ITIL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642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6537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 et catalogue de services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65379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service IT délivre de la valeur au client sans qu'il porte les coûts et les risques spécifiques.</a:t>
            </a:r>
            <a:endParaRPr lang="en-US" sz="13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 de services : la liste des services proposés, avec leur périmètre exact.</a:t>
            </a:r>
            <a:endParaRPr lang="en-US" sz="13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service du catalogue est adossé à un engagement chiffré : délai, disponibilité, coût.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5349240"/>
            <a:ext cx="6537960" cy="777240"/>
          </a:xfrm>
          <a:prstGeom prst="roundRect">
            <a:avLst>
              <a:gd name="adj" fmla="val 5882"/>
            </a:avLst>
          </a:prstGeom>
          <a:solidFill>
            <a:srgbClr val="F0EEE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534924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D97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« Poste de travail » : délai de prise en charge 4h ouvrées · disponibilité 99 % · coût 180 €/poste/an.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269480" y="777240"/>
            <a:ext cx="4370832" cy="5257800"/>
          </a:xfrm>
          <a:prstGeom prst="roundRect">
            <a:avLst>
              <a:gd name="adj" fmla="val 1255"/>
            </a:avLst>
          </a:prstGeom>
          <a:solidFill>
            <a:srgbClr val="F0EEE6"/>
          </a:solidFill>
          <a:ln/>
        </p:spPr>
      </p:sp>
      <p:sp>
        <p:nvSpPr>
          <p:cNvPr id="8" name="Shape 6"/>
          <p:cNvSpPr/>
          <p:nvPr/>
        </p:nvSpPr>
        <p:spPr>
          <a:xfrm>
            <a:off x="7543800" y="1051560"/>
            <a:ext cx="457200" cy="457200"/>
          </a:xfrm>
          <a:prstGeom prst="ellipse">
            <a:avLst/>
          </a:prstGeom>
          <a:solidFill>
            <a:srgbClr val="1E2A44"/>
          </a:solidFill>
          <a:ln/>
        </p:spPr>
      </p:sp>
      <p:sp>
        <p:nvSpPr>
          <p:cNvPr id="9" name="Text 7"/>
          <p:cNvSpPr/>
          <p:nvPr/>
        </p:nvSpPr>
        <p:spPr>
          <a:xfrm>
            <a:off x="7543800" y="1051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138160" y="10515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97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MÉTAPHORE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543800" y="164592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menu du restaurant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543800" y="2423160"/>
            <a:ext cx="38404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client choisit dans une liste connue à l'avance ; il ne découvre pas le périmètre du plat une fois servi.  </a:t>
            </a:r>
            <a:pPr indent="0" marL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bon menu affiché ne garantit pas un client satisfait si le plat servi ne correspond pas au besoin réel.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64739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Gestion des services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ITIL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10642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cycle de vie du service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035454" cy="3383280"/>
          </a:xfrm>
          <a:prstGeom prst="roundRect">
            <a:avLst>
              <a:gd name="adj" fmla="val 2695"/>
            </a:avLst>
          </a:prstGeom>
          <a:solidFill>
            <a:srgbClr val="F0EEE6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2011680"/>
            <a:ext cx="365760" cy="365760"/>
          </a:xfrm>
          <a:prstGeom prst="ellipse">
            <a:avLst/>
          </a:prstGeom>
          <a:solidFill>
            <a:srgbClr val="D97F3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13232" y="2560320"/>
            <a:ext cx="170627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D97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STRATÉGIE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13232" y="3246120"/>
            <a:ext cx="170627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Décider quels services créer et pour quelle valeur.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65806" y="3392424"/>
            <a:ext cx="265176" cy="164592"/>
          </a:xfrm>
          <a:prstGeom prst="rightArrow">
            <a:avLst/>
          </a:prstGeom>
          <a:solidFill>
            <a:srgbClr val="5B7B94"/>
          </a:solidFill>
          <a:ln/>
        </p:spPr>
      </p:sp>
      <p:sp>
        <p:nvSpPr>
          <p:cNvPr id="10" name="Shape 8"/>
          <p:cNvSpPr/>
          <p:nvPr/>
        </p:nvSpPr>
        <p:spPr>
          <a:xfrm>
            <a:off x="2812694" y="1783080"/>
            <a:ext cx="2035454" cy="3383280"/>
          </a:xfrm>
          <a:prstGeom prst="roundRect">
            <a:avLst>
              <a:gd name="adj" fmla="val 2695"/>
            </a:avLst>
          </a:prstGeom>
          <a:solidFill>
            <a:srgbClr val="F0EEE6"/>
          </a:solidFill>
          <a:ln/>
        </p:spPr>
      </p:sp>
      <p:sp>
        <p:nvSpPr>
          <p:cNvPr id="11" name="Shape 9"/>
          <p:cNvSpPr/>
          <p:nvPr/>
        </p:nvSpPr>
        <p:spPr>
          <a:xfrm>
            <a:off x="2995574" y="2011680"/>
            <a:ext cx="365760" cy="365760"/>
          </a:xfrm>
          <a:prstGeom prst="ellipse">
            <a:avLst/>
          </a:prstGeom>
          <a:solidFill>
            <a:srgbClr val="D97F35"/>
          </a:solidFill>
          <a:ln/>
        </p:spPr>
      </p:sp>
      <p:sp>
        <p:nvSpPr>
          <p:cNvPr id="12" name="Text 10"/>
          <p:cNvSpPr/>
          <p:nvPr/>
        </p:nvSpPr>
        <p:spPr>
          <a:xfrm>
            <a:off x="2995574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977286" y="2560320"/>
            <a:ext cx="170627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D97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977286" y="3246120"/>
            <a:ext cx="170627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Traduire la stratégie en spécifications exploitables.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29861" y="3392424"/>
            <a:ext cx="265176" cy="164592"/>
          </a:xfrm>
          <a:prstGeom prst="rightArrow">
            <a:avLst/>
          </a:prstGeom>
          <a:solidFill>
            <a:srgbClr val="5B7B94"/>
          </a:solidFill>
          <a:ln/>
        </p:spPr>
      </p:sp>
      <p:sp>
        <p:nvSpPr>
          <p:cNvPr id="16" name="Shape 14"/>
          <p:cNvSpPr/>
          <p:nvPr/>
        </p:nvSpPr>
        <p:spPr>
          <a:xfrm>
            <a:off x="5076749" y="1783080"/>
            <a:ext cx="2035454" cy="3383280"/>
          </a:xfrm>
          <a:prstGeom prst="roundRect">
            <a:avLst>
              <a:gd name="adj" fmla="val 2695"/>
            </a:avLst>
          </a:prstGeom>
          <a:solidFill>
            <a:srgbClr val="F0EEE6"/>
          </a:solidFill>
          <a:ln/>
        </p:spPr>
      </p:sp>
      <p:sp>
        <p:nvSpPr>
          <p:cNvPr id="17" name="Shape 15"/>
          <p:cNvSpPr/>
          <p:nvPr/>
        </p:nvSpPr>
        <p:spPr>
          <a:xfrm>
            <a:off x="5259629" y="2011680"/>
            <a:ext cx="365760" cy="365760"/>
          </a:xfrm>
          <a:prstGeom prst="ellipse">
            <a:avLst/>
          </a:prstGeom>
          <a:solidFill>
            <a:srgbClr val="D97F35"/>
          </a:solidFill>
          <a:ln/>
        </p:spPr>
      </p:sp>
      <p:sp>
        <p:nvSpPr>
          <p:cNvPr id="18" name="Text 16"/>
          <p:cNvSpPr/>
          <p:nvPr/>
        </p:nvSpPr>
        <p:spPr>
          <a:xfrm>
            <a:off x="5259629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241341" y="2560320"/>
            <a:ext cx="170627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D97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241341" y="3246120"/>
            <a:ext cx="170627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Déployer le changement sans casser l'existant.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093915" y="3392424"/>
            <a:ext cx="265176" cy="164592"/>
          </a:xfrm>
          <a:prstGeom prst="rightArrow">
            <a:avLst/>
          </a:prstGeom>
          <a:solidFill>
            <a:srgbClr val="5B7B94"/>
          </a:solidFill>
          <a:ln/>
        </p:spPr>
      </p:sp>
      <p:sp>
        <p:nvSpPr>
          <p:cNvPr id="22" name="Shape 20"/>
          <p:cNvSpPr/>
          <p:nvPr/>
        </p:nvSpPr>
        <p:spPr>
          <a:xfrm>
            <a:off x="7340803" y="1783080"/>
            <a:ext cx="2035454" cy="3383280"/>
          </a:xfrm>
          <a:prstGeom prst="roundRect">
            <a:avLst>
              <a:gd name="adj" fmla="val 2695"/>
            </a:avLst>
          </a:prstGeom>
          <a:solidFill>
            <a:srgbClr val="F0EEE6"/>
          </a:solidFill>
          <a:ln/>
        </p:spPr>
      </p:sp>
      <p:sp>
        <p:nvSpPr>
          <p:cNvPr id="23" name="Shape 21"/>
          <p:cNvSpPr/>
          <p:nvPr/>
        </p:nvSpPr>
        <p:spPr>
          <a:xfrm>
            <a:off x="7523683" y="2011680"/>
            <a:ext cx="365760" cy="365760"/>
          </a:xfrm>
          <a:prstGeom prst="ellipse">
            <a:avLst/>
          </a:prstGeom>
          <a:solidFill>
            <a:srgbClr val="D97F35"/>
          </a:solidFill>
          <a:ln/>
        </p:spPr>
      </p:sp>
      <p:sp>
        <p:nvSpPr>
          <p:cNvPr id="24" name="Text 22"/>
          <p:cNvSpPr/>
          <p:nvPr/>
        </p:nvSpPr>
        <p:spPr>
          <a:xfrm>
            <a:off x="7523683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505395" y="2560320"/>
            <a:ext cx="170627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D97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EXPLOITATION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505395" y="3246120"/>
            <a:ext cx="170627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Faire tourner le service au quotidien, gérer incidents et problèmes.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357970" y="3392424"/>
            <a:ext cx="265176" cy="164592"/>
          </a:xfrm>
          <a:prstGeom prst="rightArrow">
            <a:avLst/>
          </a:prstGeom>
          <a:solidFill>
            <a:srgbClr val="5B7B94"/>
          </a:solidFill>
          <a:ln/>
        </p:spPr>
      </p:sp>
      <p:sp>
        <p:nvSpPr>
          <p:cNvPr id="28" name="Shape 26"/>
          <p:cNvSpPr/>
          <p:nvPr/>
        </p:nvSpPr>
        <p:spPr>
          <a:xfrm>
            <a:off x="9604858" y="1783080"/>
            <a:ext cx="2035454" cy="3383280"/>
          </a:xfrm>
          <a:prstGeom prst="roundRect">
            <a:avLst>
              <a:gd name="adj" fmla="val 2695"/>
            </a:avLst>
          </a:prstGeom>
          <a:solidFill>
            <a:srgbClr val="F0EEE6"/>
          </a:solidFill>
          <a:ln/>
        </p:spPr>
      </p:sp>
      <p:sp>
        <p:nvSpPr>
          <p:cNvPr id="29" name="Shape 27"/>
          <p:cNvSpPr/>
          <p:nvPr/>
        </p:nvSpPr>
        <p:spPr>
          <a:xfrm>
            <a:off x="9787738" y="2011680"/>
            <a:ext cx="365760" cy="365760"/>
          </a:xfrm>
          <a:prstGeom prst="ellipse">
            <a:avLst/>
          </a:prstGeom>
          <a:solidFill>
            <a:srgbClr val="D97F35"/>
          </a:solidFill>
          <a:ln/>
        </p:spPr>
      </p:sp>
      <p:sp>
        <p:nvSpPr>
          <p:cNvPr id="30" name="Text 28"/>
          <p:cNvSpPr/>
          <p:nvPr/>
        </p:nvSpPr>
        <p:spPr>
          <a:xfrm>
            <a:off x="9787738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769450" y="2560320"/>
            <a:ext cx="170627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D97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AMÉLIORATION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D97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9769450" y="3246120"/>
            <a:ext cx="170627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Mesurer, comparer, ajuster — en continu.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48640" y="5394960"/>
            <a:ext cx="11091672" cy="292608"/>
          </a:xfrm>
          <a:prstGeom prst="leftArrow">
            <a:avLst/>
          </a:prstGeom>
          <a:solidFill>
            <a:srgbClr val="D97F35"/>
          </a:solidFill>
          <a:ln/>
        </p:spPr>
      </p:sp>
      <p:sp>
        <p:nvSpPr>
          <p:cNvPr id="34" name="Text 32"/>
          <p:cNvSpPr/>
          <p:nvPr/>
        </p:nvSpPr>
        <p:spPr>
          <a:xfrm>
            <a:off x="548640" y="5394960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BOUCLE : L'AMÉLIORATION CONTINUE RÉINJECTE DANS LA STRATÉGIE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48640" y="64739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Gestion des services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57200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ITIL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10642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cycle de vie du produit et du service (ITIL 5)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16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ITIL 5 (2026) remplace la chaîne de valeur du service d'ITIL 4 (6 activités) par ce cycle en 8 activités.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système de valeur des services (SVS) reste l'architecture d'ensemble ; c'est son moteur interne qui change de nom et de forme.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11091672" cy="3063240"/>
          </a:xfrm>
          <a:prstGeom prst="roundRect">
            <a:avLst>
              <a:gd name="adj" fmla="val 1791"/>
            </a:avLst>
          </a:prstGeom>
          <a:solidFill>
            <a:srgbClr val="F0EEE6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3246120"/>
            <a:ext cx="2324862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5B7B9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3246120"/>
            <a:ext cx="21785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11830" y="3534156"/>
            <a:ext cx="347472" cy="201168"/>
          </a:xfrm>
          <a:prstGeom prst="rightArrow">
            <a:avLst/>
          </a:prstGeom>
          <a:solidFill>
            <a:srgbClr val="5B7B94"/>
          </a:solidFill>
          <a:ln/>
        </p:spPr>
      </p:sp>
      <p:sp>
        <p:nvSpPr>
          <p:cNvPr id="9" name="Shape 7"/>
          <p:cNvSpPr/>
          <p:nvPr/>
        </p:nvSpPr>
        <p:spPr>
          <a:xfrm>
            <a:off x="3577590" y="3246120"/>
            <a:ext cx="2324862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5B7B9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0742" y="3246120"/>
            <a:ext cx="21785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20740" y="3534156"/>
            <a:ext cx="347472" cy="201168"/>
          </a:xfrm>
          <a:prstGeom prst="rightArrow">
            <a:avLst/>
          </a:prstGeom>
          <a:solidFill>
            <a:srgbClr val="5B7B94"/>
          </a:solidFill>
          <a:ln/>
        </p:spPr>
      </p:sp>
      <p:sp>
        <p:nvSpPr>
          <p:cNvPr id="12" name="Shape 10"/>
          <p:cNvSpPr/>
          <p:nvPr/>
        </p:nvSpPr>
        <p:spPr>
          <a:xfrm>
            <a:off x="6286500" y="3246120"/>
            <a:ext cx="2324862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5B7B9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9652" y="3246120"/>
            <a:ext cx="21785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629650" y="3534156"/>
            <a:ext cx="347472" cy="201168"/>
          </a:xfrm>
          <a:prstGeom prst="rightArrow">
            <a:avLst/>
          </a:prstGeom>
          <a:solidFill>
            <a:srgbClr val="5B7B94"/>
          </a:solidFill>
          <a:ln/>
        </p:spPr>
      </p:sp>
      <p:sp>
        <p:nvSpPr>
          <p:cNvPr id="15" name="Shape 13"/>
          <p:cNvSpPr/>
          <p:nvPr/>
        </p:nvSpPr>
        <p:spPr>
          <a:xfrm>
            <a:off x="8995410" y="3246120"/>
            <a:ext cx="2324862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5B7B9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68562" y="3246120"/>
            <a:ext cx="21785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68680" y="4297680"/>
            <a:ext cx="2324862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5B7B9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1832" y="4297680"/>
            <a:ext cx="21785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11830" y="4585716"/>
            <a:ext cx="347472" cy="201168"/>
          </a:xfrm>
          <a:prstGeom prst="rightArrow">
            <a:avLst/>
          </a:prstGeom>
          <a:solidFill>
            <a:srgbClr val="5B7B94"/>
          </a:solidFill>
          <a:ln/>
        </p:spPr>
      </p:sp>
      <p:sp>
        <p:nvSpPr>
          <p:cNvPr id="20" name="Shape 18"/>
          <p:cNvSpPr/>
          <p:nvPr/>
        </p:nvSpPr>
        <p:spPr>
          <a:xfrm>
            <a:off x="3577590" y="4297680"/>
            <a:ext cx="2324862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5B7B9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0742" y="4297680"/>
            <a:ext cx="21785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920740" y="4585716"/>
            <a:ext cx="347472" cy="201168"/>
          </a:xfrm>
          <a:prstGeom prst="rightArrow">
            <a:avLst/>
          </a:prstGeom>
          <a:solidFill>
            <a:srgbClr val="5B7B94"/>
          </a:solidFill>
          <a:ln/>
        </p:spPr>
      </p:sp>
      <p:sp>
        <p:nvSpPr>
          <p:cNvPr id="23" name="Shape 21"/>
          <p:cNvSpPr/>
          <p:nvPr/>
        </p:nvSpPr>
        <p:spPr>
          <a:xfrm>
            <a:off x="6286500" y="4297680"/>
            <a:ext cx="2324862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5B7B9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9652" y="4297680"/>
            <a:ext cx="21785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629650" y="4585716"/>
            <a:ext cx="347472" cy="201168"/>
          </a:xfrm>
          <a:prstGeom prst="rightArrow">
            <a:avLst/>
          </a:prstGeom>
          <a:solidFill>
            <a:srgbClr val="5B7B94"/>
          </a:solidFill>
          <a:ln/>
        </p:spPr>
      </p:sp>
      <p:sp>
        <p:nvSpPr>
          <p:cNvPr id="26" name="Shape 24"/>
          <p:cNvSpPr/>
          <p:nvPr/>
        </p:nvSpPr>
        <p:spPr>
          <a:xfrm>
            <a:off x="8995410" y="4297680"/>
            <a:ext cx="2324862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5B7B9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068562" y="4297680"/>
            <a:ext cx="21785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577900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D97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RETENIR  </a:t>
            </a:r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cadre publié en 2026, encore en déploiement progressif chez PeopleCert — le vocabulaire anglais est volontairement conservé, c'est celui que vous croiserez tel quel en entreprise.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48640" y="64739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Gestion des services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ITIL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10642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55080" y="182880"/>
            <a:ext cx="5303520" cy="548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b="1" dirty="0">
                <a:solidFill>
                  <a:srgbClr val="F0EE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548640" y="2743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10896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Publications centrales : stratégie et conception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429768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Décider avant de construire, promettre ce qu'on peut tenir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Publications centrales : stratégie et conception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ITIL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642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chaîne d'engagement : stratégie, SLA, OLA, UC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16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Stratégie : décider quels services créer, pour quel marché, avec quelle valeur — et à quel coût réel.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: traduire cette stratégie en engagements mesurables entre le client, l'IT et ses fournisseurs.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: un SLA promis à 4h se décompose en engagements internes plus courts, jamais plus longs.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11091672" cy="3063240"/>
          </a:xfrm>
          <a:prstGeom prst="roundRect">
            <a:avLst>
              <a:gd name="adj" fmla="val 1791"/>
            </a:avLst>
          </a:prstGeom>
          <a:solidFill>
            <a:srgbClr val="F0EEE6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880360"/>
            <a:ext cx="3227832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5B7B9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2880360"/>
            <a:ext cx="3081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0" y="3191256"/>
            <a:ext cx="347472" cy="201168"/>
          </a:xfrm>
          <a:prstGeom prst="rightArrow">
            <a:avLst/>
          </a:prstGeom>
          <a:solidFill>
            <a:srgbClr val="5B7B94"/>
          </a:solidFill>
          <a:ln/>
        </p:spPr>
      </p:sp>
      <p:sp>
        <p:nvSpPr>
          <p:cNvPr id="9" name="Text 7"/>
          <p:cNvSpPr/>
          <p:nvPr/>
        </p:nvSpPr>
        <p:spPr>
          <a:xfrm>
            <a:off x="3593592" y="2587752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7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· 4h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480560" y="2880360"/>
            <a:ext cx="3227832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5B7B9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53712" y="2880360"/>
            <a:ext cx="3081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IT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726680" y="3191256"/>
            <a:ext cx="347472" cy="201168"/>
          </a:xfrm>
          <a:prstGeom prst="rightArrow">
            <a:avLst/>
          </a:prstGeom>
          <a:solidFill>
            <a:srgbClr val="5B7B94"/>
          </a:solidFill>
          <a:ln/>
        </p:spPr>
      </p:sp>
      <p:sp>
        <p:nvSpPr>
          <p:cNvPr id="13" name="Text 11"/>
          <p:cNvSpPr/>
          <p:nvPr/>
        </p:nvSpPr>
        <p:spPr>
          <a:xfrm>
            <a:off x="7205472" y="2587752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7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 · 2h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092440" y="2880360"/>
            <a:ext cx="3227832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5B7B9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65592" y="2880360"/>
            <a:ext cx="3081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Équipes internes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93892" y="3749040"/>
            <a:ext cx="201168" cy="320040"/>
          </a:xfrm>
          <a:prstGeom prst="downArrow">
            <a:avLst/>
          </a:prstGeom>
          <a:solidFill>
            <a:srgbClr val="5B7B94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0" y="3465576"/>
            <a:ext cx="3959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7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 · 1h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977640" y="4114800"/>
            <a:ext cx="4233672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5B7B9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50792" y="4114800"/>
            <a:ext cx="40873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Fournisseur externe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(contrat UC)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" y="577900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D97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RETENIR  </a:t>
            </a:r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4h (SLA) = 2h (OLA interne) + 1h (UC fournisseur) + marge — un SLA non soutenu par des sous-engagements plus courts n'est pas tenable.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48640" y="64739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Stratégie et conception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ITIL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10642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969618" cy="384048"/>
          </a:xfrm>
          <a:prstGeom prst="roundRect">
            <a:avLst>
              <a:gd name="adj" fmla="val 21429"/>
            </a:avLst>
          </a:prstGeom>
          <a:solidFill>
            <a:srgbClr val="D97F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9696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FIL ROUGE · POINT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0" y="5029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GLPI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6537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Qualifier et prioriser le ticket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6537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C'est urgent, la clôture comptable est demain 17h et on ne peut plus rien facturer ! »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423160"/>
            <a:ext cx="6537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Calculer Priorité = Impact x Urgence, sans se fier uniquement au ton de l'appel</a:t>
            </a:r>
            <a:endParaRPr lang="en-US" sz="1250" dirty="0"/>
          </a:p>
          <a:p>
            <a:pPr marL="342900" indent="-3429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combien de personnes sont réellement touchées avant de trancher</a:t>
            </a:r>
            <a:endParaRPr lang="en-US" sz="1250" dirty="0"/>
          </a:p>
          <a:p>
            <a:pPr marL="342900" indent="-3429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Rattacher le ticket au service concerné et au SLA applicable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269480" y="777240"/>
            <a:ext cx="4370832" cy="5257800"/>
          </a:xfrm>
          <a:prstGeom prst="roundRect">
            <a:avLst>
              <a:gd name="adj" fmla="val 1255"/>
            </a:avLst>
          </a:prstGeom>
          <a:solidFill>
            <a:srgbClr val="1E2A44"/>
          </a:solidFill>
          <a:ln/>
        </p:spPr>
      </p:sp>
      <p:sp>
        <p:nvSpPr>
          <p:cNvPr id="9" name="Text 7"/>
          <p:cNvSpPr/>
          <p:nvPr/>
        </p:nvSpPr>
        <p:spPr>
          <a:xfrm>
            <a:off x="7543800" y="10058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97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REPÈRES GLPI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543800" y="1417320"/>
            <a:ext cx="38404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D7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Champ : Priorité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D7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Formule :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D7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Impact × Urgence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D7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SLA du service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D7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concerné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543800" y="3246120"/>
            <a:ext cx="3840480" cy="0"/>
          </a:xfrm>
          <a:prstGeom prst="line">
            <a:avLst/>
          </a:prstGeom>
          <a:noFill/>
          <a:ln w="9525">
            <a:solidFill>
              <a:srgbClr val="5B7B9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43800" y="33832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D97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FRÉQUENTS EN ENTREPRISE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543800" y="3840480"/>
            <a:ext cx="3840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D7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clôture comptable ou paie mensuelle</a:t>
            </a:r>
            <a:endParaRPr lang="en-US" sz="1050" dirty="0"/>
          </a:p>
          <a:p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D7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remise d'un appel d'offres</a:t>
            </a:r>
            <a:endParaRPr lang="en-US" sz="1050" dirty="0"/>
          </a:p>
          <a:p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D7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présentation client imminente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48640" y="64739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Stratégie et conception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ITIL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10642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55080" y="182880"/>
            <a:ext cx="5303520" cy="548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b="1" dirty="0">
                <a:solidFill>
                  <a:srgbClr val="F0EE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548640" y="2743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10896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Publications centrales : transition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429768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Déployer un changement sans provoquer le prochain incident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Publications centrales : transition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ITIL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642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circuit d'un changement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16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changement doit être demandé, évalué puis autorisé — jamais appliqué directement en production.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CMDB (Configuration Management Database — base de données de gestion des configurations) : inventaire des composants (CI) et de leurs relations, tenu à jour à chaque changement.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11091672" cy="3063240"/>
          </a:xfrm>
          <a:prstGeom prst="roundRect">
            <a:avLst>
              <a:gd name="adj" fmla="val 1791"/>
            </a:avLst>
          </a:prstGeom>
          <a:solidFill>
            <a:srgbClr val="F0EEE6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3703320"/>
            <a:ext cx="17830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5B7B9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3703320"/>
            <a:ext cx="16367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(RFC)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670048" y="4014216"/>
            <a:ext cx="347472" cy="201168"/>
          </a:xfrm>
          <a:prstGeom prst="rightArrow">
            <a:avLst/>
          </a:prstGeom>
          <a:solidFill>
            <a:srgbClr val="5B7B94"/>
          </a:solidFill>
          <a:ln/>
        </p:spPr>
      </p:sp>
      <p:sp>
        <p:nvSpPr>
          <p:cNvPr id="9" name="Shape 7"/>
          <p:cNvSpPr/>
          <p:nvPr/>
        </p:nvSpPr>
        <p:spPr>
          <a:xfrm>
            <a:off x="3035808" y="3703320"/>
            <a:ext cx="17830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5B7B9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08960" y="3703320"/>
            <a:ext cx="16367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Évaluation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risque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837176" y="4014216"/>
            <a:ext cx="347472" cy="201168"/>
          </a:xfrm>
          <a:prstGeom prst="rightArrow">
            <a:avLst/>
          </a:prstGeom>
          <a:solidFill>
            <a:srgbClr val="5B7B94"/>
          </a:solidFill>
          <a:ln/>
        </p:spPr>
      </p:sp>
      <p:sp>
        <p:nvSpPr>
          <p:cNvPr id="12" name="Shape 10"/>
          <p:cNvSpPr/>
          <p:nvPr/>
        </p:nvSpPr>
        <p:spPr>
          <a:xfrm>
            <a:off x="5202936" y="3703320"/>
            <a:ext cx="17830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5B7B9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76088" y="3703320"/>
            <a:ext cx="16367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(si risque)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004304" y="4014216"/>
            <a:ext cx="347472" cy="201168"/>
          </a:xfrm>
          <a:prstGeom prst="rightArrow">
            <a:avLst/>
          </a:prstGeom>
          <a:solidFill>
            <a:srgbClr val="5B7B94"/>
          </a:solidFill>
          <a:ln/>
        </p:spPr>
      </p:sp>
      <p:sp>
        <p:nvSpPr>
          <p:cNvPr id="15" name="Shape 13"/>
          <p:cNvSpPr/>
          <p:nvPr/>
        </p:nvSpPr>
        <p:spPr>
          <a:xfrm>
            <a:off x="7370064" y="3703320"/>
            <a:ext cx="17830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5B7B9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43216" y="3703320"/>
            <a:ext cx="16367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Autorisation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171432" y="4014216"/>
            <a:ext cx="347472" cy="201168"/>
          </a:xfrm>
          <a:prstGeom prst="rightArrow">
            <a:avLst/>
          </a:prstGeom>
          <a:solidFill>
            <a:srgbClr val="5B7B94"/>
          </a:solidFill>
          <a:ln/>
        </p:spPr>
      </p:sp>
      <p:sp>
        <p:nvSpPr>
          <p:cNvPr id="18" name="Shape 16"/>
          <p:cNvSpPr/>
          <p:nvPr/>
        </p:nvSpPr>
        <p:spPr>
          <a:xfrm>
            <a:off x="9537192" y="3703320"/>
            <a:ext cx="17830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5B7B9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10344" y="3703320"/>
            <a:ext cx="16367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" y="577900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D97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RETENIR  </a:t>
            </a:r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changement standard saute l'étape CAB — il est pré-autorisé, à faible risque et répétable.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48640" y="64739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Transition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ITIL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10642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669694" cy="384048"/>
          </a:xfrm>
          <a:prstGeom prst="roundRect">
            <a:avLst>
              <a:gd name="adj" fmla="val 21429"/>
            </a:avLst>
          </a:prstGeom>
          <a:solidFill>
            <a:srgbClr val="D97F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66969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MINI-TP · FISHBOWL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0" y="5029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 COLLECTIVE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6537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changement qui tourne mal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6537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 moment du module joué devant toute la salle. Un déploiement d'imprimantes réseau a été poussé hier soir sur tout un étage, sans passage au CAB.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423160"/>
            <a:ext cx="6537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binôme volontaire joue devant la salle à partir de deux fiches (l'agent qui a déployé, le N1 qui reçoit les tickets)</a:t>
            </a:r>
            <a:endParaRPr lang="en-US" sz="1250" dirty="0"/>
          </a:p>
          <a:p>
            <a:pPr marL="342900" indent="-3429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autres binômes observent avec la grille ci-contre et ne participent pas au jeu</a:t>
            </a:r>
            <a:endParaRPr lang="en-US" sz="1250" dirty="0"/>
          </a:p>
          <a:p>
            <a:pPr marL="342900" indent="-3429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: repérer ce qui, dans le circuit de changement, aurait dû s'enclencher et ne s'est pas enclenché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269480" y="777240"/>
            <a:ext cx="4370832" cy="5257800"/>
          </a:xfrm>
          <a:prstGeom prst="roundRect">
            <a:avLst>
              <a:gd name="adj" fmla="val 1255"/>
            </a:avLst>
          </a:prstGeom>
          <a:solidFill>
            <a:srgbClr val="1E2A44"/>
          </a:solidFill>
          <a:ln/>
        </p:spPr>
      </p:sp>
      <p:sp>
        <p:nvSpPr>
          <p:cNvPr id="9" name="Text 7"/>
          <p:cNvSpPr/>
          <p:nvPr/>
        </p:nvSpPr>
        <p:spPr>
          <a:xfrm>
            <a:off x="7543800" y="10058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97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GRILLE D'OBSERVATION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543800" y="1417320"/>
            <a:ext cx="38404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D7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 changement a-t-il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D7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été évalué ?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D7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 CAB a-t-il été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D7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sollicité ?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D7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Quel est l'impact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D7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réel mesuré 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543800" y="3246120"/>
            <a:ext cx="3840480" cy="0"/>
          </a:xfrm>
          <a:prstGeom prst="line">
            <a:avLst/>
          </a:prstGeom>
          <a:noFill/>
          <a:ln w="9525">
            <a:solidFill>
              <a:srgbClr val="5B7B9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43800" y="33832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D97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FRÉQUENTS EN ENTREPRISE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543800" y="3840480"/>
            <a:ext cx="3840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D7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déploiement de patch un vendredi soir</a:t>
            </a:r>
            <a:endParaRPr lang="en-US" sz="1050" dirty="0"/>
          </a:p>
          <a:p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D7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mise à jour de pilote sur tout un parc</a:t>
            </a:r>
            <a:endParaRPr lang="en-US" sz="1050" dirty="0"/>
          </a:p>
          <a:p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D7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changement de configuration réseau non testé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48640" y="64739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Transition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ITIL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10642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55080" y="182880"/>
            <a:ext cx="5303520" cy="548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b="1" dirty="0">
                <a:solidFill>
                  <a:srgbClr val="F0EE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548640" y="2743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10896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Publications centrales : exploitation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429768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cœur du métier : incidents, problèmes, support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Publications centrales : exploitation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ITIL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642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cycle de vie d'un ticket incident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16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incident interrompt ou dégrade un service, sans que sa cause soit forcément connue.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unique : restaurer le service au plus vite — comprendre la cause vient après, en gestion des problèmes.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11091672" cy="3063240"/>
          </a:xfrm>
          <a:prstGeom prst="roundRect">
            <a:avLst>
              <a:gd name="adj" fmla="val 1791"/>
            </a:avLst>
          </a:prstGeom>
          <a:solidFill>
            <a:srgbClr val="F0EEE6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3703320"/>
            <a:ext cx="17830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5B7B9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3703320"/>
            <a:ext cx="16367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Nouveau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70048" y="4014216"/>
            <a:ext cx="347472" cy="201168"/>
          </a:xfrm>
          <a:prstGeom prst="rightArrow">
            <a:avLst/>
          </a:prstGeom>
          <a:solidFill>
            <a:srgbClr val="5B7B94"/>
          </a:solidFill>
          <a:ln/>
        </p:spPr>
      </p:sp>
      <p:sp>
        <p:nvSpPr>
          <p:cNvPr id="9" name="Shape 7"/>
          <p:cNvSpPr/>
          <p:nvPr/>
        </p:nvSpPr>
        <p:spPr>
          <a:xfrm>
            <a:off x="3035808" y="3703320"/>
            <a:ext cx="17830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5B7B9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08960" y="3703320"/>
            <a:ext cx="16367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Assigné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37176" y="4014216"/>
            <a:ext cx="347472" cy="201168"/>
          </a:xfrm>
          <a:prstGeom prst="rightArrow">
            <a:avLst/>
          </a:prstGeom>
          <a:solidFill>
            <a:srgbClr val="5B7B94"/>
          </a:solidFill>
          <a:ln/>
        </p:spPr>
      </p:sp>
      <p:sp>
        <p:nvSpPr>
          <p:cNvPr id="12" name="Shape 10"/>
          <p:cNvSpPr/>
          <p:nvPr/>
        </p:nvSpPr>
        <p:spPr>
          <a:xfrm>
            <a:off x="5202936" y="3703320"/>
            <a:ext cx="17830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5B7B9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76088" y="3703320"/>
            <a:ext cx="16367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cours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004304" y="4014216"/>
            <a:ext cx="347472" cy="201168"/>
          </a:xfrm>
          <a:prstGeom prst="rightArrow">
            <a:avLst/>
          </a:prstGeom>
          <a:solidFill>
            <a:srgbClr val="5B7B94"/>
          </a:solidFill>
          <a:ln/>
        </p:spPr>
      </p:sp>
      <p:sp>
        <p:nvSpPr>
          <p:cNvPr id="15" name="Shape 13"/>
          <p:cNvSpPr/>
          <p:nvPr/>
        </p:nvSpPr>
        <p:spPr>
          <a:xfrm>
            <a:off x="7370064" y="3703320"/>
            <a:ext cx="17830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5B7B9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43216" y="3703320"/>
            <a:ext cx="16367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Résolu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171432" y="4014216"/>
            <a:ext cx="347472" cy="201168"/>
          </a:xfrm>
          <a:prstGeom prst="rightArrow">
            <a:avLst/>
          </a:prstGeom>
          <a:solidFill>
            <a:srgbClr val="5B7B94"/>
          </a:solidFill>
          <a:ln/>
        </p:spPr>
      </p:sp>
      <p:sp>
        <p:nvSpPr>
          <p:cNvPr id="18" name="Shape 16"/>
          <p:cNvSpPr/>
          <p:nvPr/>
        </p:nvSpPr>
        <p:spPr>
          <a:xfrm>
            <a:off x="9537192" y="3703320"/>
            <a:ext cx="17830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5B7B9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10344" y="3703320"/>
            <a:ext cx="16367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64739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Exploitation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ITIL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10642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D'un incident récurrent à l'erreur connue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16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problème est la cause commune de plusieurs incidents, souvent récurrents.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RCA (Root Cause Analysis — analyse des causes racines) : méthode structurée type « 5 pourquoi » ou diagramme d'Ishikawa.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: le même message d'erreur signalé sur 3 postes en une semaine → un problème, pas trois incidents isolés.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11091672" cy="3063240"/>
          </a:xfrm>
          <a:prstGeom prst="roundRect">
            <a:avLst>
              <a:gd name="adj" fmla="val 1791"/>
            </a:avLst>
          </a:prstGeom>
          <a:solidFill>
            <a:srgbClr val="F0EEE6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3703320"/>
            <a:ext cx="17830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5B7B9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3703320"/>
            <a:ext cx="16367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récurrents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70048" y="4014216"/>
            <a:ext cx="347472" cy="201168"/>
          </a:xfrm>
          <a:prstGeom prst="rightArrow">
            <a:avLst/>
          </a:prstGeom>
          <a:solidFill>
            <a:srgbClr val="5B7B94"/>
          </a:solidFill>
          <a:ln/>
        </p:spPr>
      </p:sp>
      <p:sp>
        <p:nvSpPr>
          <p:cNvPr id="9" name="Shape 7"/>
          <p:cNvSpPr/>
          <p:nvPr/>
        </p:nvSpPr>
        <p:spPr>
          <a:xfrm>
            <a:off x="3035808" y="3703320"/>
            <a:ext cx="17830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5B7B9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08960" y="3703320"/>
            <a:ext cx="16367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ouvert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37176" y="4014216"/>
            <a:ext cx="347472" cy="201168"/>
          </a:xfrm>
          <a:prstGeom prst="rightArrow">
            <a:avLst/>
          </a:prstGeom>
          <a:solidFill>
            <a:srgbClr val="5B7B94"/>
          </a:solidFill>
          <a:ln/>
        </p:spPr>
      </p:sp>
      <p:sp>
        <p:nvSpPr>
          <p:cNvPr id="12" name="Shape 10"/>
          <p:cNvSpPr/>
          <p:nvPr/>
        </p:nvSpPr>
        <p:spPr>
          <a:xfrm>
            <a:off x="5202936" y="3703320"/>
            <a:ext cx="17830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5B7B9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76088" y="3703320"/>
            <a:ext cx="16367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RCA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(cause racine)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004304" y="4014216"/>
            <a:ext cx="347472" cy="201168"/>
          </a:xfrm>
          <a:prstGeom prst="rightArrow">
            <a:avLst/>
          </a:prstGeom>
          <a:solidFill>
            <a:srgbClr val="5B7B94"/>
          </a:solidFill>
          <a:ln/>
        </p:spPr>
      </p:sp>
      <p:sp>
        <p:nvSpPr>
          <p:cNvPr id="15" name="Shape 13"/>
          <p:cNvSpPr/>
          <p:nvPr/>
        </p:nvSpPr>
        <p:spPr>
          <a:xfrm>
            <a:off x="7370064" y="3703320"/>
            <a:ext cx="17830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5B7B9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43216" y="3703320"/>
            <a:ext cx="16367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 connue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(contournement)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171432" y="4014216"/>
            <a:ext cx="347472" cy="201168"/>
          </a:xfrm>
          <a:prstGeom prst="rightArrow">
            <a:avLst/>
          </a:prstGeom>
          <a:solidFill>
            <a:srgbClr val="5B7B94"/>
          </a:solidFill>
          <a:ln/>
        </p:spPr>
      </p:sp>
      <p:sp>
        <p:nvSpPr>
          <p:cNvPr id="18" name="Shape 16"/>
          <p:cNvSpPr/>
          <p:nvPr/>
        </p:nvSpPr>
        <p:spPr>
          <a:xfrm>
            <a:off x="9537192" y="3703320"/>
            <a:ext cx="17830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5B7B9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10344" y="3703320"/>
            <a:ext cx="16367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Changement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correctif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577900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D97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RETENIR  </a:t>
            </a:r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l'erreur connue n'est pas la fin — elle attend une correction définitive via un changement.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48640" y="64739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Exploitation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ITIL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10642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L'escalade fonctionnelle : N1 → N2 → N3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16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Service Desk est le point de contact unique (SPOC — Single Point of Contact) entre l'utilisateur et l'IT.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Escalade fonctionnelle (vers plus de compétence) ≠ escalade hiérarchique (vers plus de décision).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11091672" cy="3063240"/>
          </a:xfrm>
          <a:prstGeom prst="roundRect">
            <a:avLst>
              <a:gd name="adj" fmla="val 1791"/>
            </a:avLst>
          </a:prstGeom>
          <a:solidFill>
            <a:srgbClr val="F0EEE6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3703320"/>
            <a:ext cx="2324862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5B7B9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3703320"/>
            <a:ext cx="21785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Utilisateur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11830" y="4014216"/>
            <a:ext cx="347472" cy="201168"/>
          </a:xfrm>
          <a:prstGeom prst="rightArrow">
            <a:avLst/>
          </a:prstGeom>
          <a:solidFill>
            <a:srgbClr val="5B7B94"/>
          </a:solidFill>
          <a:ln/>
        </p:spPr>
      </p:sp>
      <p:sp>
        <p:nvSpPr>
          <p:cNvPr id="9" name="Shape 7"/>
          <p:cNvSpPr/>
          <p:nvPr/>
        </p:nvSpPr>
        <p:spPr>
          <a:xfrm>
            <a:off x="3577590" y="3703320"/>
            <a:ext cx="2324862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5B7B9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0742" y="3703320"/>
            <a:ext cx="21785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Desk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(N1 · SPOC)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920740" y="4014216"/>
            <a:ext cx="347472" cy="201168"/>
          </a:xfrm>
          <a:prstGeom prst="rightArrow">
            <a:avLst/>
          </a:prstGeom>
          <a:solidFill>
            <a:srgbClr val="5B7B94"/>
          </a:solidFill>
          <a:ln/>
        </p:spPr>
      </p:sp>
      <p:sp>
        <p:nvSpPr>
          <p:cNvPr id="12" name="Text 10"/>
          <p:cNvSpPr/>
          <p:nvPr/>
        </p:nvSpPr>
        <p:spPr>
          <a:xfrm>
            <a:off x="5399532" y="3410712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7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hors périmètre N1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86500" y="3703320"/>
            <a:ext cx="2324862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5B7B9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9652" y="3703320"/>
            <a:ext cx="21785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N2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(expertise technique)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629650" y="4014216"/>
            <a:ext cx="347472" cy="201168"/>
          </a:xfrm>
          <a:prstGeom prst="rightArrow">
            <a:avLst/>
          </a:prstGeom>
          <a:solidFill>
            <a:srgbClr val="5B7B94"/>
          </a:solidFill>
          <a:ln/>
        </p:spPr>
      </p:sp>
      <p:sp>
        <p:nvSpPr>
          <p:cNvPr id="16" name="Text 14"/>
          <p:cNvSpPr/>
          <p:nvPr/>
        </p:nvSpPr>
        <p:spPr>
          <a:xfrm>
            <a:off x="8108442" y="3410712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7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expertise éditeur requise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8995410" y="3703320"/>
            <a:ext cx="2324862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5B7B9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68562" y="3703320"/>
            <a:ext cx="21785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N3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(éditeur / expert)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48640" y="64739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Exploitation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ITIL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10642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894637" cy="384048"/>
          </a:xfrm>
          <a:prstGeom prst="roundRect">
            <a:avLst>
              <a:gd name="adj" fmla="val 21429"/>
            </a:avLst>
          </a:prstGeom>
          <a:solidFill>
            <a:srgbClr val="D97F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89463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MINI-TP · JEU DE RÔLE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0" y="5029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FICHES DE RÔLE PAR BINÔME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6537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Trois pannes, trois réflexes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6537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binôme technicien reçoit un cas : VPN cassé, imprimante réseau HS, ou boîte mail bloquée.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423160"/>
            <a:ext cx="6537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binôme voisin joue le client à partir de sa fiche, vous appliquez le script de questionnement</a:t>
            </a:r>
            <a:endParaRPr lang="en-US" sz="1250" dirty="0"/>
          </a:p>
          <a:p>
            <a:pPr marL="342900" indent="-3429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commun aux trois cas : obtenir les faits avant toute hypothèse de solution</a:t>
            </a:r>
            <a:endParaRPr lang="en-US" sz="1250" dirty="0"/>
          </a:p>
          <a:p>
            <a:pPr marL="342900" indent="-3429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 10 minutes, on échange les rôles au sein du binôme technicien (qui parle / qui saisit)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269480" y="777240"/>
            <a:ext cx="4370832" cy="5257800"/>
          </a:xfrm>
          <a:prstGeom prst="roundRect">
            <a:avLst>
              <a:gd name="adj" fmla="val 1255"/>
            </a:avLst>
          </a:prstGeom>
          <a:solidFill>
            <a:srgbClr val="1E2A44"/>
          </a:solidFill>
          <a:ln/>
        </p:spPr>
      </p:sp>
      <p:sp>
        <p:nvSpPr>
          <p:cNvPr id="9" name="Text 7"/>
          <p:cNvSpPr/>
          <p:nvPr/>
        </p:nvSpPr>
        <p:spPr>
          <a:xfrm>
            <a:off x="7543800" y="10058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97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DE QUESTIONNEMENT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543800" y="1417320"/>
            <a:ext cx="38404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D7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"Quoi, précisément ?"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D7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"Depuis quand ?"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D7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"Changement récent ?"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D7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"Qui d'autre est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D7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touché ?"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543800" y="3246120"/>
            <a:ext cx="3840480" cy="0"/>
          </a:xfrm>
          <a:prstGeom prst="line">
            <a:avLst/>
          </a:prstGeom>
          <a:noFill/>
          <a:ln w="9525">
            <a:solidFill>
              <a:srgbClr val="5B7B9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43800" y="33832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D97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JOUÉS EN PARALLÈLE DANS LA SALLE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543800" y="3840480"/>
            <a:ext cx="3840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D7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VPN inaccessible en télétravail</a:t>
            </a:r>
            <a:endParaRPr lang="en-US" sz="1050" dirty="0"/>
          </a:p>
          <a:p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D7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imprimante réseau injoignable</a:t>
            </a:r>
            <a:endParaRPr lang="en-US" sz="1050" dirty="0"/>
          </a:p>
          <a:p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D7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boîte mail bloquée par le pare-feu anti-spam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48640" y="64739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Exploitation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ITIL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10642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894637" cy="384048"/>
          </a:xfrm>
          <a:prstGeom prst="roundRect">
            <a:avLst>
              <a:gd name="adj" fmla="val 21429"/>
            </a:avLst>
          </a:prstGeom>
          <a:solidFill>
            <a:srgbClr val="D97F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89463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MINI-TP · JEU DE RÔLE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0" y="5029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FICHES DE RÔLE PAR BINÔME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6537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Escalade sous pression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6537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même incident revient une deuxième fois cette semaine, sur un poste différent du même service.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423160"/>
            <a:ext cx="6537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binôme voisin joue l'utilisateur à partir de sa fiche, vous menez l'échange</a:t>
            </a:r>
            <a:endParaRPr lang="en-US" sz="1250" dirty="0"/>
          </a:p>
          <a:p>
            <a:pPr marL="342900" indent="-3429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Décider en direct : contourner, ou escalader en N2</a:t>
            </a:r>
            <a:endParaRPr lang="en-US" sz="1250" dirty="0"/>
          </a:p>
          <a:p>
            <a:pPr marL="342900" indent="-3429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Justifier la décision à voix haute avant d'agir dans GLPI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269480" y="777240"/>
            <a:ext cx="4370832" cy="5257800"/>
          </a:xfrm>
          <a:prstGeom prst="roundRect">
            <a:avLst>
              <a:gd name="adj" fmla="val 1255"/>
            </a:avLst>
          </a:prstGeom>
          <a:solidFill>
            <a:srgbClr val="1E2A44"/>
          </a:solidFill>
          <a:ln/>
        </p:spPr>
      </p:sp>
      <p:sp>
        <p:nvSpPr>
          <p:cNvPr id="9" name="Text 7"/>
          <p:cNvSpPr/>
          <p:nvPr/>
        </p:nvSpPr>
        <p:spPr>
          <a:xfrm>
            <a:off x="7543800" y="10058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97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CRITÈRES D'ESCALADE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543800" y="1417320"/>
            <a:ext cx="38404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D7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Hors périmètre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D7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technique N1 ?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D7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Incident récurrent ?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D7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Risque business élevé 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64739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Exploitation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ITIL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10642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55080" y="182880"/>
            <a:ext cx="5303520" cy="548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b="1" dirty="0">
                <a:solidFill>
                  <a:srgbClr val="F0EE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548640" y="2743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10896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Savoir, savoir-faire, savoir-être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429768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ne s'automatise pas dans le support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Savoir, savoir-faire, savoir-être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ITIL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642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6537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Adapter son langage à l'utilisateur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65379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niveau de langage et le vocabulaire se règlent sur l'interlocuteur, pas sur l'aisance technique du technicien.</a:t>
            </a:r>
            <a:endParaRPr lang="en-US" sz="13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Éviter le jargon informatique face à un utilisateur non technique : reformuler plutôt qu'employer l'acronyme exact.</a:t>
            </a:r>
            <a:endParaRPr lang="en-US" sz="13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la compréhension en cours d'échange (« c'est clair pour vous ? »), pas seulement en fin d'appel.</a:t>
            </a:r>
            <a:endParaRPr lang="en-US" sz="13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l'écrit aussi : un message à l'utilisateur ne se rédige pas comme une note technique entre collègues.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269480" y="777240"/>
            <a:ext cx="4370832" cy="5257800"/>
          </a:xfrm>
          <a:prstGeom prst="roundRect">
            <a:avLst>
              <a:gd name="adj" fmla="val 1255"/>
            </a:avLst>
          </a:prstGeom>
          <a:solidFill>
            <a:srgbClr val="F0EEE6"/>
          </a:solidFill>
          <a:ln/>
        </p:spPr>
      </p:sp>
      <p:sp>
        <p:nvSpPr>
          <p:cNvPr id="6" name="Shape 4"/>
          <p:cNvSpPr/>
          <p:nvPr/>
        </p:nvSpPr>
        <p:spPr>
          <a:xfrm>
            <a:off x="7543800" y="1051560"/>
            <a:ext cx="457200" cy="457200"/>
          </a:xfrm>
          <a:prstGeom prst="ellipse">
            <a:avLst/>
          </a:prstGeom>
          <a:solidFill>
            <a:srgbClr val="1E2A44"/>
          </a:solidFill>
          <a:ln/>
        </p:spPr>
      </p:sp>
      <p:sp>
        <p:nvSpPr>
          <p:cNvPr id="7" name="Text 5"/>
          <p:cNvSpPr/>
          <p:nvPr/>
        </p:nvSpPr>
        <p:spPr>
          <a:xfrm>
            <a:off x="7543800" y="1051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138160" y="10515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97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MÉTAPHORE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543800" y="164592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médecin qui explique un diagnostic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543800" y="2423160"/>
            <a:ext cx="38404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bon médecin décrit la maladie sans réciter la nomenclature médicale, pour que le patient comprenne et agisse.  </a:t>
            </a:r>
            <a:pPr indent="0" marL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Simplifier n'est pas mentir : la métaphore ne dispense pas de rester exact sur ce qui a été fait et pourquoi.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" y="64739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Savoir, savoir-faire, savoir-être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ITIL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10642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6537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Communication en situation de crise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65379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incident majeur exige une communication factuelle et régulière, même sans nouvelle information.</a:t>
            </a:r>
            <a:endParaRPr lang="en-US" sz="13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langage adapté devient encore plus décisif sous pression, quand l'utilisateur est déjà inquiet.</a:t>
            </a:r>
            <a:endParaRPr lang="en-US" sz="13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jamais promettre un délai qu'on ne maîtrise pas.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269480" y="777240"/>
            <a:ext cx="4370832" cy="5257800"/>
          </a:xfrm>
          <a:prstGeom prst="roundRect">
            <a:avLst>
              <a:gd name="adj" fmla="val 1255"/>
            </a:avLst>
          </a:prstGeom>
          <a:solidFill>
            <a:srgbClr val="F0EEE6"/>
          </a:solidFill>
          <a:ln/>
        </p:spPr>
      </p:sp>
      <p:sp>
        <p:nvSpPr>
          <p:cNvPr id="6" name="Shape 4"/>
          <p:cNvSpPr/>
          <p:nvPr/>
        </p:nvSpPr>
        <p:spPr>
          <a:xfrm>
            <a:off x="7543800" y="1051560"/>
            <a:ext cx="457200" cy="457200"/>
          </a:xfrm>
          <a:prstGeom prst="ellipse">
            <a:avLst/>
          </a:prstGeom>
          <a:solidFill>
            <a:srgbClr val="1E2A44"/>
          </a:solidFill>
          <a:ln/>
        </p:spPr>
      </p:sp>
      <p:sp>
        <p:nvSpPr>
          <p:cNvPr id="7" name="Text 5"/>
          <p:cNvSpPr/>
          <p:nvPr/>
        </p:nvSpPr>
        <p:spPr>
          <a:xfrm>
            <a:off x="7543800" y="1051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138160" y="10515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97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MÉTAPHORE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543800" y="164592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contrôleur aérien en incident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543800" y="2423160"/>
            <a:ext cx="38404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Parler calmement, à intervalles réguliers, sans jargon inutile — même sous forte pression opérationnelle.  </a:t>
            </a:r>
            <a:pPr indent="0" marL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calme ne remplace pas l'information : un silence rassurant trop prolongé devient lui-même un signal d'alarme.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" y="64739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Savoir, savoir-faire, savoir-être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ITIL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10642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6537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Rédiger un compte rendu d'intervention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65379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bon compte rendu répond à : quoi, pourquoi, comment résolu, en combien de temps.</a:t>
            </a:r>
            <a:endParaRPr lang="en-US" sz="13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Écrit pour un lecteur qui n'était pas présent — pas pour soi-même dans trois mois.</a:t>
            </a:r>
            <a:endParaRPr lang="en-US" sz="13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Clair, concis, correctement orthographié : une faute ou une formulation approximative fait douter de la fiabilité de l'intervention elle-même.</a:t>
            </a:r>
            <a:endParaRPr lang="en-US" sz="13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Sert de matière première à la base de connaissances et à l'analyse de problèmes.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269480" y="777240"/>
            <a:ext cx="4370832" cy="5257800"/>
          </a:xfrm>
          <a:prstGeom prst="roundRect">
            <a:avLst>
              <a:gd name="adj" fmla="val 1255"/>
            </a:avLst>
          </a:prstGeom>
          <a:solidFill>
            <a:srgbClr val="F0EEE6"/>
          </a:solidFill>
          <a:ln/>
        </p:spPr>
      </p:sp>
      <p:sp>
        <p:nvSpPr>
          <p:cNvPr id="6" name="Shape 4"/>
          <p:cNvSpPr/>
          <p:nvPr/>
        </p:nvSpPr>
        <p:spPr>
          <a:xfrm>
            <a:off x="7543800" y="1051560"/>
            <a:ext cx="457200" cy="457200"/>
          </a:xfrm>
          <a:prstGeom prst="ellipse">
            <a:avLst/>
          </a:prstGeom>
          <a:solidFill>
            <a:srgbClr val="1E2A44"/>
          </a:solidFill>
          <a:ln/>
        </p:spPr>
      </p:sp>
      <p:sp>
        <p:nvSpPr>
          <p:cNvPr id="7" name="Text 5"/>
          <p:cNvSpPr/>
          <p:nvPr/>
        </p:nvSpPr>
        <p:spPr>
          <a:xfrm>
            <a:off x="7543800" y="1051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138160" y="10515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97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MÉTAPHORE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543800" y="164592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rapport transmis au confrère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543800" y="2423160"/>
            <a:ext cx="38404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 un dossier médical transmis à un autre médecin : s'il doit vous rappeler pour comprendre, le rapport a échoué.  </a:t>
            </a:r>
            <a:pPr indent="0" marL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compte rendu exhaustif mais illisible sous le coup de la pression n'aide personne — la priorité est la clarté, pas l'exhaustivité.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" y="64739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Savoir, savoir-faire, savoir-être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ITIL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10642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894637" cy="384048"/>
          </a:xfrm>
          <a:prstGeom prst="roundRect">
            <a:avLst>
              <a:gd name="adj" fmla="val 21429"/>
            </a:avLst>
          </a:prstGeom>
          <a:solidFill>
            <a:srgbClr val="D97F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89463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MINI-TP · JEU DE RÔLE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0" y="5029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FICHES DE RÔLE PAR BINÔME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6537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client qui hausse le ton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6537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binôme voisin joue un client qui rappelle pour la troisième fois, agacé, sans nouvelle information depuis deux heures.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423160"/>
            <a:ext cx="6537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ton du client monte ou redescend selon la qualité de vos réponses — suivez sa fiche</a:t>
            </a:r>
            <a:endParaRPr lang="en-US" sz="1250" dirty="0"/>
          </a:p>
          <a:p>
            <a:pPr marL="342900" indent="-3429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: tenir une communication factuelle et régulière sans céder à la pression</a:t>
            </a:r>
            <a:endParaRPr lang="en-US" sz="1250" dirty="0"/>
          </a:p>
          <a:p>
            <a:pPr marL="342900" indent="-3429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Échange des rôles après l'appel, puis débrief à deux avant le débrief collectif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269480" y="777240"/>
            <a:ext cx="4370832" cy="5257800"/>
          </a:xfrm>
          <a:prstGeom prst="roundRect">
            <a:avLst>
              <a:gd name="adj" fmla="val 1255"/>
            </a:avLst>
          </a:prstGeom>
          <a:solidFill>
            <a:srgbClr val="1E2A44"/>
          </a:solidFill>
          <a:ln/>
        </p:spPr>
      </p:sp>
      <p:sp>
        <p:nvSpPr>
          <p:cNvPr id="9" name="Text 7"/>
          <p:cNvSpPr/>
          <p:nvPr/>
        </p:nvSpPr>
        <p:spPr>
          <a:xfrm>
            <a:off x="7543800" y="10058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97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SURVEILLER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543800" y="1417320"/>
            <a:ext cx="38404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D7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Vocabulaire adapté ?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D7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Délai promis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D7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réaliste ?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D7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Ton resté calme 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64739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Savoir, savoir-faire, savoir-être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ITIL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10642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55080" y="182880"/>
            <a:ext cx="5303520" cy="548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b="1" dirty="0">
                <a:solidFill>
                  <a:srgbClr val="F0EE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548640" y="2743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10896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Assistance utilisateur sous GLPI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429768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L'outil qui trace tout le fil rouge du module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Assistance utilisateur sous GLPI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ITIL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642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Intervenir à distance sur le poste utilisateur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16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outil de prise de contrôle à distance (TeamViewer, AnyDesk, ou le module intégré à GLPI) permet de réaliser une opération de maintenance sans déplacement physique.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Utilisé aussi bien en dépannage d'urgence qu'en maintenance planifiée (mise à jour, changement de configuration).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consentement explicite de l'utilisateur est obligatoire avant toute connexion — jamais une prise de main silencieuse.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11091672" cy="3063240"/>
          </a:xfrm>
          <a:prstGeom prst="roundRect">
            <a:avLst>
              <a:gd name="adj" fmla="val 1791"/>
            </a:avLst>
          </a:prstGeom>
          <a:solidFill>
            <a:srgbClr val="F0EEE6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3703320"/>
            <a:ext cx="2324862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5B7B9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3703320"/>
            <a:ext cx="21785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 de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consentement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11830" y="4014216"/>
            <a:ext cx="347472" cy="201168"/>
          </a:xfrm>
          <a:prstGeom prst="rightArrow">
            <a:avLst/>
          </a:prstGeom>
          <a:solidFill>
            <a:srgbClr val="5B7B94"/>
          </a:solidFill>
          <a:ln/>
        </p:spPr>
      </p:sp>
      <p:sp>
        <p:nvSpPr>
          <p:cNvPr id="9" name="Shape 7"/>
          <p:cNvSpPr/>
          <p:nvPr/>
        </p:nvSpPr>
        <p:spPr>
          <a:xfrm>
            <a:off x="3577590" y="3703320"/>
            <a:ext cx="2324862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5B7B9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0742" y="3703320"/>
            <a:ext cx="21785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Acceptation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utilisateur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920740" y="4014216"/>
            <a:ext cx="347472" cy="201168"/>
          </a:xfrm>
          <a:prstGeom prst="rightArrow">
            <a:avLst/>
          </a:prstGeom>
          <a:solidFill>
            <a:srgbClr val="5B7B94"/>
          </a:solidFill>
          <a:ln/>
        </p:spPr>
      </p:sp>
      <p:sp>
        <p:nvSpPr>
          <p:cNvPr id="12" name="Shape 10"/>
          <p:cNvSpPr/>
          <p:nvPr/>
        </p:nvSpPr>
        <p:spPr>
          <a:xfrm>
            <a:off x="6286500" y="3703320"/>
            <a:ext cx="2324862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5B7B9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9652" y="3703320"/>
            <a:ext cx="21785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à distance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(journalisée)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629650" y="4014216"/>
            <a:ext cx="347472" cy="201168"/>
          </a:xfrm>
          <a:prstGeom prst="rightArrow">
            <a:avLst/>
          </a:prstGeom>
          <a:solidFill>
            <a:srgbClr val="5B7B94"/>
          </a:solidFill>
          <a:ln/>
        </p:spPr>
      </p:sp>
      <p:sp>
        <p:nvSpPr>
          <p:cNvPr id="15" name="Shape 13"/>
          <p:cNvSpPr/>
          <p:nvPr/>
        </p:nvSpPr>
        <p:spPr>
          <a:xfrm>
            <a:off x="8995410" y="3703320"/>
            <a:ext cx="2324862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5B7B9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68562" y="3703320"/>
            <a:ext cx="21785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 de session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compte rendu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577900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D97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RETENIR  </a:t>
            </a:r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session à distance se documente comme n'importe quelle intervention — pas d'action non tracée.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48640" y="64739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Assistance utilisateur sous GLPI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ITIL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10642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969618" cy="384048"/>
          </a:xfrm>
          <a:prstGeom prst="roundRect">
            <a:avLst>
              <a:gd name="adj" fmla="val 21429"/>
            </a:avLst>
          </a:prstGeom>
          <a:solidFill>
            <a:srgbClr val="D97F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9696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FIL ROUGE · POINT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0" y="5029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GLPI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6537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Résoudre, faire valider et clôturer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6537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diagnostic est posé côté support. À vous d'intervenir sur le poste, de faire valider et de clôturer dans les règles.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423160"/>
            <a:ext cx="6537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Demander le consentement de Claire pour une prise de main à distance avant toute action sur son poste</a:t>
            </a:r>
            <a:endParaRPr lang="en-US" sz="1250" dirty="0"/>
          </a:p>
          <a:p>
            <a:pPr marL="342900" indent="-3429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Appliquer et vérifier la correction en session à distance, journalisée</a:t>
            </a:r>
            <a:endParaRPr lang="en-US" sz="1250" dirty="0"/>
          </a:p>
          <a:p>
            <a:pPr marL="342900" indent="-3429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Faire confirmer par l'utilisatrice que la facturation fonctionne avant de clôturer</a:t>
            </a:r>
            <a:endParaRPr lang="en-US" sz="1250" dirty="0"/>
          </a:p>
          <a:p>
            <a:pPr marL="342900" indent="-3429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Rédiger la solution de façon réutilisable, puis clôturer avec le temps passé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269480" y="777240"/>
            <a:ext cx="4370832" cy="5257800"/>
          </a:xfrm>
          <a:prstGeom prst="roundRect">
            <a:avLst>
              <a:gd name="adj" fmla="val 1255"/>
            </a:avLst>
          </a:prstGeom>
          <a:solidFill>
            <a:srgbClr val="1E2A44"/>
          </a:solidFill>
          <a:ln/>
        </p:spPr>
      </p:sp>
      <p:sp>
        <p:nvSpPr>
          <p:cNvPr id="9" name="Text 7"/>
          <p:cNvSpPr/>
          <p:nvPr/>
        </p:nvSpPr>
        <p:spPr>
          <a:xfrm>
            <a:off x="7543800" y="10058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97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REPÈRES GLPI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543800" y="1417320"/>
            <a:ext cx="38404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D7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Outil : prise de main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D7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à distance (consentement)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D7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Solution : [texte réutilisable]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D7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Statut : Résolu → Clos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543800" y="3246120"/>
            <a:ext cx="3840480" cy="0"/>
          </a:xfrm>
          <a:prstGeom prst="line">
            <a:avLst/>
          </a:prstGeom>
          <a:noFill/>
          <a:ln w="9525">
            <a:solidFill>
              <a:srgbClr val="5B7B9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43800" y="33832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D97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FRÉQUENTS EN ENTREPRISE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543800" y="3840480"/>
            <a:ext cx="3840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D7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rollback d'un correctif système</a:t>
            </a:r>
            <a:endParaRPr lang="en-US" sz="1050" dirty="0"/>
          </a:p>
          <a:p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D7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réinstallation d'un pilote</a:t>
            </a:r>
            <a:endParaRPr lang="en-US" sz="1050" dirty="0"/>
          </a:p>
          <a:p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D7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redémarrage d'un service applicatif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48640" y="64739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Assistance utilisateur sous GLPI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ITIL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10642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55080" y="182880"/>
            <a:ext cx="5303520" cy="548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b="1" dirty="0">
                <a:solidFill>
                  <a:srgbClr val="F0EE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548640" y="2743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10896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Publications centrales : amélioration continue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429768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le module devient après le dernier ticket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Publications centrales : amélioration continue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ITIL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642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boucle d'amélioration continue (PDCA)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16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CSI (Continual Service Improvement — amélioration continue des services) : mesurer, comparer, ajuster, en continu.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PDCA (Plan-Do-Check-Act — planifier, faire, vérifier, agir) : la boucle de base de toute amélioration.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11091672" cy="3063240"/>
          </a:xfrm>
          <a:prstGeom prst="roundRect">
            <a:avLst>
              <a:gd name="adj" fmla="val 1791"/>
            </a:avLst>
          </a:prstGeom>
          <a:solidFill>
            <a:srgbClr val="F0EEE6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3703320"/>
            <a:ext cx="2324862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5B7B9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3703320"/>
            <a:ext cx="21785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(planifier)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11830" y="3991356"/>
            <a:ext cx="347472" cy="201168"/>
          </a:xfrm>
          <a:prstGeom prst="rightArrow">
            <a:avLst/>
          </a:prstGeom>
          <a:solidFill>
            <a:srgbClr val="5B7B94"/>
          </a:solidFill>
          <a:ln/>
        </p:spPr>
      </p:sp>
      <p:sp>
        <p:nvSpPr>
          <p:cNvPr id="9" name="Shape 7"/>
          <p:cNvSpPr/>
          <p:nvPr/>
        </p:nvSpPr>
        <p:spPr>
          <a:xfrm>
            <a:off x="3577590" y="3703320"/>
            <a:ext cx="2324862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5B7B9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0742" y="3703320"/>
            <a:ext cx="21785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(faire)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20740" y="3991356"/>
            <a:ext cx="347472" cy="201168"/>
          </a:xfrm>
          <a:prstGeom prst="rightArrow">
            <a:avLst/>
          </a:prstGeom>
          <a:solidFill>
            <a:srgbClr val="5B7B94"/>
          </a:solidFill>
          <a:ln/>
        </p:spPr>
      </p:sp>
      <p:sp>
        <p:nvSpPr>
          <p:cNvPr id="12" name="Shape 10"/>
          <p:cNvSpPr/>
          <p:nvPr/>
        </p:nvSpPr>
        <p:spPr>
          <a:xfrm>
            <a:off x="6286500" y="3703320"/>
            <a:ext cx="2324862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5B7B9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9652" y="3703320"/>
            <a:ext cx="21785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(vérifier)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629650" y="3991356"/>
            <a:ext cx="347472" cy="201168"/>
          </a:xfrm>
          <a:prstGeom prst="rightArrow">
            <a:avLst/>
          </a:prstGeom>
          <a:solidFill>
            <a:srgbClr val="5B7B94"/>
          </a:solidFill>
          <a:ln/>
        </p:spPr>
      </p:sp>
      <p:sp>
        <p:nvSpPr>
          <p:cNvPr id="15" name="Shape 13"/>
          <p:cNvSpPr/>
          <p:nvPr/>
        </p:nvSpPr>
        <p:spPr>
          <a:xfrm>
            <a:off x="8995410" y="3703320"/>
            <a:ext cx="2324862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5B7B9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68562" y="3703320"/>
            <a:ext cx="21785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(agir)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68680" y="4572000"/>
            <a:ext cx="10451592" cy="274320"/>
          </a:xfrm>
          <a:prstGeom prst="leftArrow">
            <a:avLst/>
          </a:prstGeom>
          <a:solidFill>
            <a:srgbClr val="D97F35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572000"/>
            <a:ext cx="10451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BOUCLE CONTINUE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577900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D97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RETENIR  </a:t>
            </a:r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indicateur mesuré, le Check n'a rien à vérifier.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" y="64739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Amélioration continue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ITIL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10642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969618" cy="384048"/>
          </a:xfrm>
          <a:prstGeom prst="roundRect">
            <a:avLst>
              <a:gd name="adj" fmla="val 21429"/>
            </a:avLst>
          </a:prstGeom>
          <a:solidFill>
            <a:srgbClr val="D97F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9696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FIL ROUGE · POINT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0" y="5029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GLPI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6537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Post-mortem et base de connaissances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6537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Comment être sûr que ça ne va pas recommencer sur d'autres postes ? »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423160"/>
            <a:ext cx="6537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Rédiger une fiche erreur connue (symptôme, cause, contournement, correction)</a:t>
            </a:r>
            <a:endParaRPr lang="en-US" sz="1250" dirty="0"/>
          </a:p>
          <a:p>
            <a:pPr marL="342900" indent="-3429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proactivement les autres postes exposés, sans attendre de nouveaux tickets</a:t>
            </a:r>
            <a:endParaRPr lang="en-US" sz="1250" dirty="0"/>
          </a:p>
          <a:p>
            <a:pPr marL="342900" indent="-3429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Proposer un changement (RFC) pour tester les correctifs avant déploiement général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269480" y="777240"/>
            <a:ext cx="4370832" cy="5257800"/>
          </a:xfrm>
          <a:prstGeom prst="roundRect">
            <a:avLst>
              <a:gd name="adj" fmla="val 1255"/>
            </a:avLst>
          </a:prstGeom>
          <a:solidFill>
            <a:srgbClr val="1E2A44"/>
          </a:solidFill>
          <a:ln/>
        </p:spPr>
      </p:sp>
      <p:sp>
        <p:nvSpPr>
          <p:cNvPr id="9" name="Text 7"/>
          <p:cNvSpPr/>
          <p:nvPr/>
        </p:nvSpPr>
        <p:spPr>
          <a:xfrm>
            <a:off x="7543800" y="10058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97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REPÈRES GLPI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543800" y="1417320"/>
            <a:ext cx="38404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D7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 de connaissances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D7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&gt; Nouvel article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D7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Lié à : Problème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D7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PB-XXXX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543800" y="3246120"/>
            <a:ext cx="3840480" cy="0"/>
          </a:xfrm>
          <a:prstGeom prst="line">
            <a:avLst/>
          </a:prstGeom>
          <a:noFill/>
          <a:ln w="9525">
            <a:solidFill>
              <a:srgbClr val="5B7B9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43800" y="33832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D97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FRÉQUENTS EN ENTREPRISE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543800" y="3840480"/>
            <a:ext cx="3840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D7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revue post-incident après une panne de masse</a:t>
            </a:r>
            <a:endParaRPr lang="en-US" sz="1050" dirty="0"/>
          </a:p>
          <a:p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D7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anneau de test avant déploiement de patchs</a:t>
            </a:r>
            <a:endParaRPr lang="en-US" sz="1050" dirty="0"/>
          </a:p>
          <a:p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D7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partage du correctif aux autres sites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48640" y="64739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Amélioration continue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ITIL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10642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qu'il faut retenir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457200" cy="457200"/>
          </a:xfrm>
          <a:prstGeom prst="ellipse">
            <a:avLst/>
          </a:prstGeom>
          <a:solidFill>
            <a:srgbClr val="1E2A4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88720" y="18745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incident se répare vite, un problème se comprend en profondeur.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22402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deux gestions ont des objectifs différents et ne se traitent pas avec la même urgence.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154680"/>
            <a:ext cx="457200" cy="457200"/>
          </a:xfrm>
          <a:prstGeom prst="ellipse">
            <a:avLst/>
          </a:prstGeom>
          <a:solidFill>
            <a:srgbClr val="1E2A44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31089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règles vivent dans le contrat et dans l'outil, pas dans la mémoire de chacun.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34747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SLA, OLA et UC formalisent l'engagement ; GLPI en garde la trace opposable.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389120"/>
            <a:ext cx="457200" cy="457200"/>
          </a:xfrm>
          <a:prstGeom prst="ellipse">
            <a:avLst/>
          </a:prstGeom>
          <a:solidFill>
            <a:srgbClr val="1E2A44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88720" y="43434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Communiquer clairement compte autant que résoudre techniquement.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47091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compte rendu illisible ou un silence prolongé annulent une bonne résolution technique.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623560"/>
            <a:ext cx="457200" cy="457200"/>
          </a:xfrm>
          <a:prstGeom prst="ellipse">
            <a:avLst/>
          </a:prstGeom>
          <a:solidFill>
            <a:srgbClr val="1E2A44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5623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88720" y="55778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L'amélioration continue n'existe que si elle est mesurée.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88720" y="59436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indicateur, le C de Check du PDCA n'a rien à vérifier.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64739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ITIL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10642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1463040" cy="384048"/>
          </a:xfrm>
          <a:prstGeom prst="roundRect">
            <a:avLst>
              <a:gd name="adj" fmla="val 21429"/>
            </a:avLst>
          </a:prstGeom>
          <a:solidFill>
            <a:srgbClr val="D97F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de votre attention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3749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Yaël Grosjean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4069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0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yael.grosjean@protonmail.com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561320" y="580644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1E2A44"/>
          </a:solidFill>
          <a:ln/>
        </p:spPr>
      </p:sp>
      <p:sp>
        <p:nvSpPr>
          <p:cNvPr id="8" name="Shape 6"/>
          <p:cNvSpPr/>
          <p:nvPr/>
        </p:nvSpPr>
        <p:spPr>
          <a:xfrm>
            <a:off x="11384280" y="5623560"/>
            <a:ext cx="457200" cy="457200"/>
          </a:xfrm>
          <a:prstGeom prst="ellipse">
            <a:avLst/>
          </a:prstGeom>
          <a:solidFill>
            <a:srgbClr val="D97F35"/>
          </a:solidFill>
          <a:ln/>
        </p:spPr>
      </p:sp>
      <p:sp>
        <p:nvSpPr>
          <p:cNvPr id="9" name="Shape 7"/>
          <p:cNvSpPr/>
          <p:nvPr/>
        </p:nvSpPr>
        <p:spPr>
          <a:xfrm>
            <a:off x="11109960" y="6263640"/>
            <a:ext cx="320040" cy="320040"/>
          </a:xfrm>
          <a:prstGeom prst="ellipse">
            <a:avLst/>
          </a:prstGeom>
          <a:solidFill>
            <a:srgbClr val="5B7B94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44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2026-09-12T14:26:41Z</dcterms:created>
  <dcterms:modified xsi:type="dcterms:W3CDTF">2026-09-12T14:26:41Z</dcterms:modified>
</cp:coreProperties>
</file>